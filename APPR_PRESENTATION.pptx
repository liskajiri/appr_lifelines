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9" r:id="rId4"/>
    <p:sldId id="262" r:id="rId5"/>
    <p:sldId id="271" r:id="rId6"/>
    <p:sldId id="267" r:id="rId7"/>
    <p:sldId id="272" r:id="rId8"/>
    <p:sldId id="273" r:id="rId9"/>
    <p:sldId id="265" r:id="rId10"/>
  </p:sldIdLst>
  <p:sldSz cx="18288000" cy="10287000"/>
  <p:notesSz cx="6858000" cy="9144000"/>
  <p:embeddedFontLst>
    <p:embeddedFont>
      <p:font typeface="Lora" pitchFamily="2" charset="77"/>
      <p:regular r:id="rId12"/>
      <p:bold r:id="rId13"/>
      <p:italic r:id="rId14"/>
      <p:boldItalic r:id="rId15"/>
    </p:embeddedFont>
    <p:embeddedFont>
      <p:font typeface="Open Sans" panose="020B060603050402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D0708EE-9D19-4114-B6EC-E3F537DC773B}">
  <a:tblStyle styleId="{3D0708EE-9D19-4114-B6EC-E3F537DC77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51"/>
    <p:restoredTop sz="94629"/>
  </p:normalViewPr>
  <p:slideViewPr>
    <p:cSldViewPr snapToGrid="0">
      <p:cViewPr>
        <p:scale>
          <a:sx n="54" d="100"/>
          <a:sy n="54" d="100"/>
        </p:scale>
        <p:origin x="808" y="6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71291C89-6975-F614-CDC1-61A24AA24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>
            <a:extLst>
              <a:ext uri="{FF2B5EF4-FFF2-40B4-BE49-F238E27FC236}">
                <a16:creationId xmlns:a16="http://schemas.microsoft.com/office/drawing/2014/main" id="{DB288984-A171-4D24-D6F6-F021258EE4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>
            <a:extLst>
              <a:ext uri="{FF2B5EF4-FFF2-40B4-BE49-F238E27FC236}">
                <a16:creationId xmlns:a16="http://schemas.microsoft.com/office/drawing/2014/main" id="{C39E18F8-14AD-7062-9CE8-8E48A5E9E6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3957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DAAEA4DE-DA4B-0F07-0024-9A3E2A947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>
            <a:extLst>
              <a:ext uri="{FF2B5EF4-FFF2-40B4-BE49-F238E27FC236}">
                <a16:creationId xmlns:a16="http://schemas.microsoft.com/office/drawing/2014/main" id="{22AEE8DB-9E0B-9697-3678-8EF273B746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:notes">
            <a:extLst>
              <a:ext uri="{FF2B5EF4-FFF2-40B4-BE49-F238E27FC236}">
                <a16:creationId xmlns:a16="http://schemas.microsoft.com/office/drawing/2014/main" id="{BB3E26FB-D379-F34F-7A60-BE98515E4C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9931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dk1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>
            <a:spLocks noGrp="1"/>
          </p:cNvSpPr>
          <p:nvPr>
            <p:ph type="pic" idx="2"/>
          </p:nvPr>
        </p:nvSpPr>
        <p:spPr>
          <a:xfrm>
            <a:off x="10855800" y="1029975"/>
            <a:ext cx="7430700" cy="8223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FE2E00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9718040" y="1633386"/>
            <a:ext cx="7541260" cy="7020227"/>
          </a:xfrm>
          <a:custGeom>
            <a:avLst/>
            <a:gdLst/>
            <a:ahLst/>
            <a:cxnLst/>
            <a:rect l="l" t="t" r="r" b="b"/>
            <a:pathLst>
              <a:path w="7541260" h="7020227" extrusionOk="0">
                <a:moveTo>
                  <a:pt x="0" y="0"/>
                </a:moveTo>
                <a:lnTo>
                  <a:pt x="7541260" y="0"/>
                </a:lnTo>
                <a:lnTo>
                  <a:pt x="7541260" y="7020228"/>
                </a:lnTo>
                <a:lnTo>
                  <a:pt x="0" y="70202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bg>
      <p:bgPr>
        <a:solidFill>
          <a:srgbClr val="FE2E00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/>
          <p:nvPr/>
        </p:nvSpPr>
        <p:spPr>
          <a:xfrm>
            <a:off x="10017699" y="1536791"/>
            <a:ext cx="3620800" cy="5531779"/>
          </a:xfrm>
          <a:custGeom>
            <a:avLst/>
            <a:gdLst/>
            <a:ahLst/>
            <a:cxnLst/>
            <a:rect l="l" t="t" r="r" b="b"/>
            <a:pathLst>
              <a:path w="3620800" h="5531779" extrusionOk="0">
                <a:moveTo>
                  <a:pt x="0" y="0"/>
                </a:moveTo>
                <a:lnTo>
                  <a:pt x="3620801" y="0"/>
                </a:lnTo>
                <a:lnTo>
                  <a:pt x="3620801" y="5531778"/>
                </a:lnTo>
                <a:lnTo>
                  <a:pt x="0" y="5531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6" name="Google Shape;36;p6"/>
          <p:cNvSpPr/>
          <p:nvPr/>
        </p:nvSpPr>
        <p:spPr>
          <a:xfrm>
            <a:off x="13638500" y="3218431"/>
            <a:ext cx="3620800" cy="5531779"/>
          </a:xfrm>
          <a:custGeom>
            <a:avLst/>
            <a:gdLst/>
            <a:ahLst/>
            <a:cxnLst/>
            <a:rect l="l" t="t" r="r" b="b"/>
            <a:pathLst>
              <a:path w="3620800" h="5531779" extrusionOk="0">
                <a:moveTo>
                  <a:pt x="0" y="0"/>
                </a:moveTo>
                <a:lnTo>
                  <a:pt x="3620800" y="0"/>
                </a:lnTo>
                <a:lnTo>
                  <a:pt x="3620800" y="5531778"/>
                </a:lnTo>
                <a:lnTo>
                  <a:pt x="0" y="5531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742425" y="11207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742425" y="11207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742425" y="11207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42425" y="11207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Lora"/>
              <a:buNone/>
              <a:defRPr sz="700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42425" y="24463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sz="20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–"/>
              <a:defRPr sz="20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sz="20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–"/>
              <a:defRPr sz="20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»"/>
              <a:defRPr sz="20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sz="20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sz="20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sz="20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sz="20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yekenot/tree-survival-predictio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2E2E2E"/>
            </a:gs>
          </a:gsLst>
          <a:lin ang="0" scaled="0"/>
        </a:gra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/>
        </p:nvSpPr>
        <p:spPr>
          <a:xfrm>
            <a:off x="1012069" y="1714500"/>
            <a:ext cx="13427100" cy="7573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00" b="0" i="0" u="none" strike="noStrike" cap="none" dirty="0">
                <a:solidFill>
                  <a:srgbClr val="FFFDFC"/>
                </a:solidFill>
                <a:latin typeface="Lora"/>
                <a:ea typeface="Lora"/>
                <a:cs typeface="Lora"/>
                <a:sym typeface="Lora"/>
              </a:rPr>
              <a:t>Tree Survival Prediction</a:t>
            </a:r>
          </a:p>
        </p:txBody>
      </p:sp>
      <p:grpSp>
        <p:nvGrpSpPr>
          <p:cNvPr id="82" name="Google Shape;82;p13"/>
          <p:cNvGrpSpPr/>
          <p:nvPr/>
        </p:nvGrpSpPr>
        <p:grpSpPr>
          <a:xfrm>
            <a:off x="14859000" y="-200918"/>
            <a:ext cx="3429000" cy="3629918"/>
            <a:chOff x="0" y="-47625"/>
            <a:chExt cx="812800" cy="860425"/>
          </a:xfrm>
        </p:grpSpPr>
        <p:sp>
          <p:nvSpPr>
            <p:cNvPr id="83" name="Google Shape;83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Google Shape;84;p13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" name="Google Shape;85;p13"/>
          <p:cNvGrpSpPr/>
          <p:nvPr/>
        </p:nvGrpSpPr>
        <p:grpSpPr>
          <a:xfrm>
            <a:off x="14859000" y="3228082"/>
            <a:ext cx="3429000" cy="3629918"/>
            <a:chOff x="0" y="-47625"/>
            <a:chExt cx="812800" cy="860425"/>
          </a:xfrm>
        </p:grpSpPr>
        <p:sp>
          <p:nvSpPr>
            <p:cNvPr id="86" name="Google Shape;86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E2E0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Google Shape;87;p13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13"/>
          <p:cNvGrpSpPr/>
          <p:nvPr/>
        </p:nvGrpSpPr>
        <p:grpSpPr>
          <a:xfrm>
            <a:off x="14859000" y="6657082"/>
            <a:ext cx="3429000" cy="3629918"/>
            <a:chOff x="0" y="-47625"/>
            <a:chExt cx="812800" cy="860425"/>
          </a:xfrm>
        </p:grpSpPr>
        <p:sp>
          <p:nvSpPr>
            <p:cNvPr id="89" name="Google Shape;89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13"/>
          <p:cNvSpPr/>
          <p:nvPr/>
        </p:nvSpPr>
        <p:spPr>
          <a:xfrm>
            <a:off x="15297263" y="3936876"/>
            <a:ext cx="2552475" cy="2413249"/>
          </a:xfrm>
          <a:custGeom>
            <a:avLst/>
            <a:gdLst/>
            <a:ahLst/>
            <a:cxnLst/>
            <a:rect l="l" t="t" r="r" b="b"/>
            <a:pathLst>
              <a:path w="2552475" h="2413249" extrusionOk="0">
                <a:moveTo>
                  <a:pt x="0" y="0"/>
                </a:moveTo>
                <a:lnTo>
                  <a:pt x="2552474" y="0"/>
                </a:lnTo>
                <a:lnTo>
                  <a:pt x="2552474" y="2413248"/>
                </a:lnTo>
                <a:lnTo>
                  <a:pt x="0" y="2413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" name="Google Shape;92;p13"/>
          <p:cNvSpPr/>
          <p:nvPr/>
        </p:nvSpPr>
        <p:spPr>
          <a:xfrm>
            <a:off x="15698663" y="7169700"/>
            <a:ext cx="1749675" cy="2805601"/>
          </a:xfrm>
          <a:custGeom>
            <a:avLst/>
            <a:gdLst/>
            <a:ahLst/>
            <a:cxnLst/>
            <a:rect l="l" t="t" r="r" b="b"/>
            <a:pathLst>
              <a:path w="1749675" h="2805601" extrusionOk="0">
                <a:moveTo>
                  <a:pt x="0" y="0"/>
                </a:moveTo>
                <a:lnTo>
                  <a:pt x="1749674" y="0"/>
                </a:lnTo>
                <a:lnTo>
                  <a:pt x="1749674" y="2805600"/>
                </a:lnTo>
                <a:lnTo>
                  <a:pt x="0" y="2805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3" name="Google Shape;93;p13"/>
          <p:cNvSpPr/>
          <p:nvPr/>
        </p:nvSpPr>
        <p:spPr>
          <a:xfrm>
            <a:off x="15459735" y="600735"/>
            <a:ext cx="2227530" cy="2227530"/>
          </a:xfrm>
          <a:custGeom>
            <a:avLst/>
            <a:gdLst/>
            <a:ahLst/>
            <a:cxnLst/>
            <a:rect l="l" t="t" r="r" b="b"/>
            <a:pathLst>
              <a:path w="2227530" h="2227530" extrusionOk="0">
                <a:moveTo>
                  <a:pt x="0" y="0"/>
                </a:moveTo>
                <a:lnTo>
                  <a:pt x="2227530" y="0"/>
                </a:lnTo>
                <a:lnTo>
                  <a:pt x="2227530" y="2227530"/>
                </a:lnTo>
                <a:lnTo>
                  <a:pt x="0" y="22275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98" name="Google Shape;98;p13"/>
          <p:cNvCxnSpPr/>
          <p:nvPr/>
        </p:nvCxnSpPr>
        <p:spPr>
          <a:xfrm>
            <a:off x="1028700" y="8930016"/>
            <a:ext cx="12801600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" name="Google Shape;99;p13"/>
          <p:cNvCxnSpPr/>
          <p:nvPr/>
        </p:nvCxnSpPr>
        <p:spPr>
          <a:xfrm>
            <a:off x="1028700" y="1356984"/>
            <a:ext cx="12801600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2E2E2E"/>
            </a:gs>
          </a:gsLst>
          <a:lin ang="0" scaled="0"/>
        </a:gra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" name="Google Shape;108;p14"/>
          <p:cNvCxnSpPr/>
          <p:nvPr/>
        </p:nvCxnSpPr>
        <p:spPr>
          <a:xfrm>
            <a:off x="4406104" y="8931582"/>
            <a:ext cx="5463540" cy="0"/>
          </a:xfrm>
          <a:prstGeom prst="straightConnector1">
            <a:avLst/>
          </a:prstGeom>
          <a:noFill/>
          <a:ln w="28575" cap="flat" cmpd="sng">
            <a:solidFill>
              <a:srgbClr val="64646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9" name="Google Shape;109;p14"/>
          <p:cNvSpPr txBox="1"/>
          <p:nvPr/>
        </p:nvSpPr>
        <p:spPr>
          <a:xfrm>
            <a:off x="1028700" y="309739"/>
            <a:ext cx="9827100" cy="326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00" b="0" i="0" u="none" strike="noStrike" cap="none" dirty="0">
                <a:solidFill>
                  <a:srgbClr val="FFFDFC"/>
                </a:solidFill>
                <a:latin typeface="Lora"/>
                <a:ea typeface="Lora"/>
                <a:cs typeface="Lora"/>
                <a:sym typeface="Lora"/>
              </a:rPr>
              <a:t>Introduction &amp; The Dataset</a:t>
            </a:r>
            <a:endParaRPr sz="1200"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1028700" y="4140529"/>
            <a:ext cx="9545515" cy="4222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04521" lvl="1" indent="-276861">
              <a:lnSpc>
                <a:spcPct val="140000"/>
              </a:lnSpc>
              <a:buClr>
                <a:srgbClr val="FFFDFC"/>
              </a:buClr>
              <a:buSzPts val="2400"/>
              <a:buFont typeface="Open Sans"/>
              <a:buChar char="•"/>
            </a:pPr>
            <a:r>
              <a:rPr lang="en-US" sz="2800" b="1" dirty="0">
                <a:solidFill>
                  <a:srgbClr val="FFFDFC"/>
                </a:solidFill>
                <a:latin typeface="Open Sans"/>
                <a:ea typeface="Open Sans"/>
                <a:cs typeface="Open Sans"/>
                <a:sym typeface="Open Sans"/>
              </a:rPr>
              <a:t>Source</a:t>
            </a:r>
            <a:r>
              <a:rPr lang="en-US" sz="2800" dirty="0">
                <a:solidFill>
                  <a:srgbClr val="FFFDFC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2800" dirty="0">
                <a:solidFill>
                  <a:srgbClr val="FFFDFC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Kaggle</a:t>
            </a:r>
            <a:endParaRPr lang="en-US" sz="2800" dirty="0">
              <a:solidFill>
                <a:srgbClr val="FFFDF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04521" lvl="1" indent="-276861">
              <a:lnSpc>
                <a:spcPct val="140000"/>
              </a:lnSpc>
              <a:buClr>
                <a:srgbClr val="FFFDFC"/>
              </a:buClr>
              <a:buSzPts val="2400"/>
              <a:buFont typeface="Open Sans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Project Goal</a:t>
            </a:r>
            <a:r>
              <a:rPr lang="en-US" sz="28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: Survival Analysis in a real Use Case.</a:t>
            </a:r>
          </a:p>
          <a:p>
            <a:pPr marL="604521" marR="0" lvl="1" indent="-27686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DFC"/>
              </a:buClr>
              <a:buSzPts val="2400"/>
              <a:buFont typeface="Open Sans"/>
              <a:buChar char="•"/>
            </a:pPr>
            <a:r>
              <a:rPr lang="en-US" sz="2800" b="1" dirty="0">
                <a:solidFill>
                  <a:srgbClr val="FFFDFC"/>
                </a:solidFill>
                <a:latin typeface="Open Sans"/>
                <a:ea typeface="Open Sans"/>
                <a:cs typeface="Open Sans"/>
                <a:sym typeface="Open Sans"/>
              </a:rPr>
              <a:t>Defining the Core Variables</a:t>
            </a:r>
            <a:r>
              <a:rPr lang="en-US" sz="2800" dirty="0">
                <a:solidFill>
                  <a:srgbClr val="FFFDFC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</a:p>
          <a:p>
            <a:pPr marL="784860" lvl="8" indent="-457200">
              <a:lnSpc>
                <a:spcPct val="140000"/>
              </a:lnSpc>
              <a:buClr>
                <a:srgbClr val="FFFDFC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DFC"/>
                </a:solidFill>
                <a:latin typeface="Open Sans"/>
                <a:ea typeface="Open Sans"/>
                <a:cs typeface="Open Sans"/>
                <a:sym typeface="Open Sans"/>
              </a:rPr>
              <a:t>    </a:t>
            </a:r>
            <a:r>
              <a:rPr lang="en-US" sz="2800" b="1" dirty="0">
                <a:solidFill>
                  <a:srgbClr val="FFFDFC"/>
                </a:solidFill>
                <a:latin typeface="Open Sans"/>
                <a:ea typeface="Open Sans"/>
                <a:cs typeface="Open Sans"/>
                <a:sym typeface="Open Sans"/>
              </a:rPr>
              <a:t>Time (T): </a:t>
            </a:r>
            <a:r>
              <a:rPr lang="en-US" sz="2800" dirty="0">
                <a:solidFill>
                  <a:srgbClr val="FFFDFC"/>
                </a:solidFill>
                <a:latin typeface="Open Sans"/>
                <a:ea typeface="Open Sans"/>
                <a:cs typeface="Open Sans"/>
                <a:sym typeface="Open Sans"/>
              </a:rPr>
              <a:t>Duration (in days) the seedling survived</a:t>
            </a:r>
          </a:p>
          <a:p>
            <a:pPr marL="784860" lvl="8" indent="-457200">
              <a:lnSpc>
                <a:spcPct val="140000"/>
              </a:lnSpc>
              <a:buClr>
                <a:srgbClr val="FFFDFC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DFC"/>
                </a:solidFill>
                <a:latin typeface="Open Sans"/>
                <a:ea typeface="Open Sans"/>
                <a:cs typeface="Open Sans"/>
                <a:sym typeface="Open Sans"/>
              </a:rPr>
              <a:t>    </a:t>
            </a:r>
            <a:r>
              <a:rPr lang="en-US" sz="2800" b="1" dirty="0">
                <a:solidFill>
                  <a:srgbClr val="FFFDFC"/>
                </a:solidFill>
                <a:latin typeface="Open Sans"/>
                <a:ea typeface="Open Sans"/>
                <a:cs typeface="Open Sans"/>
                <a:sym typeface="Open Sans"/>
              </a:rPr>
              <a:t>Event (E): </a:t>
            </a:r>
            <a:r>
              <a:rPr lang="en-US" sz="2800" dirty="0">
                <a:solidFill>
                  <a:srgbClr val="FFFDFC"/>
                </a:solidFill>
                <a:latin typeface="Open Sans"/>
                <a:ea typeface="Open Sans"/>
                <a:cs typeface="Open Sans"/>
                <a:sym typeface="Open Sans"/>
              </a:rPr>
              <a:t>Status of the seedling (1 = Dead, 0 =   Censored/Harvested).</a:t>
            </a:r>
          </a:p>
          <a:p>
            <a:pPr marL="784860" lvl="8" indent="-457200">
              <a:lnSpc>
                <a:spcPct val="140000"/>
              </a:lnSpc>
              <a:buClr>
                <a:srgbClr val="FFFDFC"/>
              </a:buClr>
              <a:buSzPts val="2400"/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FDF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33" name="Picture 9" descr="40 Naturally Beautiful Photos of Trees | PSDFan">
            <a:extLst>
              <a:ext uri="{FF2B5EF4-FFF2-40B4-BE49-F238E27FC236}">
                <a16:creationId xmlns:a16="http://schemas.microsoft.com/office/drawing/2014/main" id="{ABC3FB4B-0751-970B-199E-9BF055956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4215" y="1333500"/>
            <a:ext cx="7620000" cy="7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/>
        </p:nvSpPr>
        <p:spPr>
          <a:xfrm>
            <a:off x="11028403" y="1171575"/>
            <a:ext cx="6231000" cy="1883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latin typeface="Lora"/>
                <a:sym typeface="Lora"/>
              </a:rPr>
              <a:t>EDA &amp; CLEANING</a:t>
            </a:r>
            <a:endParaRPr sz="1200" dirty="0"/>
          </a:p>
        </p:txBody>
      </p:sp>
      <p:cxnSp>
        <p:nvCxnSpPr>
          <p:cNvPr id="151" name="Google Shape;151;p16"/>
          <p:cNvCxnSpPr/>
          <p:nvPr/>
        </p:nvCxnSpPr>
        <p:spPr>
          <a:xfrm>
            <a:off x="14461573" y="8931582"/>
            <a:ext cx="2797727" cy="0"/>
          </a:xfrm>
          <a:prstGeom prst="straightConnector1">
            <a:avLst/>
          </a:prstGeom>
          <a:noFill/>
          <a:ln w="28575" cap="flat" cmpd="sng">
            <a:solidFill>
              <a:srgbClr val="E6E6E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ECA64B70-E37A-FBAC-C141-90B4DFEDF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933450"/>
            <a:ext cx="8696774" cy="82859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DFE3EF-9F74-5492-38FA-FA9B5389928C}"/>
              </a:ext>
            </a:extLst>
          </p:cNvPr>
          <p:cNvSpPr txBox="1"/>
          <p:nvPr/>
        </p:nvSpPr>
        <p:spPr>
          <a:xfrm>
            <a:off x="9588266" y="3429000"/>
            <a:ext cx="831873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37719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Initial dataset</a:t>
            </a: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2783 seedling records</a:t>
            </a:r>
          </a:p>
          <a:p>
            <a:pPr marL="285750" indent="-37719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Challenge</a:t>
            </a: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Severe missing data (EMF: 54% missing, Alive/Harvest: &gt;75% missing)</a:t>
            </a:r>
          </a:p>
          <a:p>
            <a:pPr marL="285750" indent="-37719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Solution</a:t>
            </a: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marL="285750" lvl="8" indent="-37719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Mean Imputation: Replaced missing EMF values with the column mean.</a:t>
            </a:r>
          </a:p>
          <a:p>
            <a:pPr marL="285750" lvl="8" indent="-37719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Leakage Prevention: Removed Census, Alive and Harvest columns, which were recorded at the end of the study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2E00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09;p19"/>
          <p:cNvCxnSpPr/>
          <p:nvPr/>
        </p:nvCxnSpPr>
        <p:spPr>
          <a:xfrm rot="10800000" flipH="1">
            <a:off x="4406104" y="8912532"/>
            <a:ext cx="12853196" cy="19050"/>
          </a:xfrm>
          <a:prstGeom prst="straightConnector1">
            <a:avLst/>
          </a:prstGeom>
          <a:noFill/>
          <a:ln w="28575" cap="flat" cmpd="sng">
            <a:solidFill>
              <a:srgbClr val="FE2E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11" name="Google Shape;211;p19"/>
          <p:cNvGrpSpPr/>
          <p:nvPr/>
        </p:nvGrpSpPr>
        <p:grpSpPr>
          <a:xfrm>
            <a:off x="1011618" y="3558464"/>
            <a:ext cx="5102776" cy="4014045"/>
            <a:chOff x="0" y="-47625"/>
            <a:chExt cx="2304237" cy="1812604"/>
          </a:xfrm>
        </p:grpSpPr>
        <p:sp>
          <p:nvSpPr>
            <p:cNvPr id="212" name="Google Shape;212;p19"/>
            <p:cNvSpPr/>
            <p:nvPr/>
          </p:nvSpPr>
          <p:spPr>
            <a:xfrm>
              <a:off x="0" y="0"/>
              <a:ext cx="2304237" cy="1764979"/>
            </a:xfrm>
            <a:custGeom>
              <a:avLst/>
              <a:gdLst/>
              <a:ahLst/>
              <a:cxnLst/>
              <a:rect l="l" t="t" r="r" b="b"/>
              <a:pathLst>
                <a:path w="2304237" h="1764979" extrusionOk="0">
                  <a:moveTo>
                    <a:pt x="0" y="0"/>
                  </a:moveTo>
                  <a:lnTo>
                    <a:pt x="2304237" y="0"/>
                  </a:lnTo>
                  <a:lnTo>
                    <a:pt x="2304237" y="1764979"/>
                  </a:lnTo>
                  <a:lnTo>
                    <a:pt x="0" y="17649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3" name="Google Shape;213;p19"/>
            <p:cNvSpPr txBox="1"/>
            <p:nvPr/>
          </p:nvSpPr>
          <p:spPr>
            <a:xfrm>
              <a:off x="0" y="-47625"/>
              <a:ext cx="2304237" cy="18126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14;p19"/>
          <p:cNvGrpSpPr/>
          <p:nvPr/>
        </p:nvGrpSpPr>
        <p:grpSpPr>
          <a:xfrm>
            <a:off x="6594682" y="3439150"/>
            <a:ext cx="5102776" cy="4014045"/>
            <a:chOff x="0" y="-47625"/>
            <a:chExt cx="2304237" cy="1812604"/>
          </a:xfrm>
        </p:grpSpPr>
        <p:sp>
          <p:nvSpPr>
            <p:cNvPr id="215" name="Google Shape;215;p19"/>
            <p:cNvSpPr/>
            <p:nvPr/>
          </p:nvSpPr>
          <p:spPr>
            <a:xfrm>
              <a:off x="0" y="0"/>
              <a:ext cx="2304237" cy="1764979"/>
            </a:xfrm>
            <a:custGeom>
              <a:avLst/>
              <a:gdLst/>
              <a:ahLst/>
              <a:cxnLst/>
              <a:rect l="l" t="t" r="r" b="b"/>
              <a:pathLst>
                <a:path w="2304237" h="1764979" extrusionOk="0">
                  <a:moveTo>
                    <a:pt x="0" y="0"/>
                  </a:moveTo>
                  <a:lnTo>
                    <a:pt x="2304237" y="0"/>
                  </a:lnTo>
                  <a:lnTo>
                    <a:pt x="2304237" y="1764979"/>
                  </a:lnTo>
                  <a:lnTo>
                    <a:pt x="0" y="17649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FE2E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" name="Google Shape;216;p19"/>
            <p:cNvSpPr txBox="1"/>
            <p:nvPr/>
          </p:nvSpPr>
          <p:spPr>
            <a:xfrm>
              <a:off x="0" y="-47625"/>
              <a:ext cx="2304237" cy="18126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7" name="Google Shape;217;p19"/>
          <p:cNvGrpSpPr/>
          <p:nvPr/>
        </p:nvGrpSpPr>
        <p:grpSpPr>
          <a:xfrm>
            <a:off x="12173606" y="3558464"/>
            <a:ext cx="5102776" cy="4014045"/>
            <a:chOff x="0" y="-47625"/>
            <a:chExt cx="2304237" cy="1812604"/>
          </a:xfrm>
        </p:grpSpPr>
        <p:sp>
          <p:nvSpPr>
            <p:cNvPr id="218" name="Google Shape;218;p19"/>
            <p:cNvSpPr/>
            <p:nvPr/>
          </p:nvSpPr>
          <p:spPr>
            <a:xfrm>
              <a:off x="0" y="0"/>
              <a:ext cx="2304237" cy="1764979"/>
            </a:xfrm>
            <a:custGeom>
              <a:avLst/>
              <a:gdLst/>
              <a:ahLst/>
              <a:cxnLst/>
              <a:rect l="l" t="t" r="r" b="b"/>
              <a:pathLst>
                <a:path w="2304237" h="1764979" extrusionOk="0">
                  <a:moveTo>
                    <a:pt x="0" y="0"/>
                  </a:moveTo>
                  <a:lnTo>
                    <a:pt x="2304237" y="0"/>
                  </a:lnTo>
                  <a:lnTo>
                    <a:pt x="2304237" y="1764979"/>
                  </a:lnTo>
                  <a:lnTo>
                    <a:pt x="0" y="17649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" name="Google Shape;219;p19"/>
            <p:cNvSpPr txBox="1"/>
            <p:nvPr/>
          </p:nvSpPr>
          <p:spPr>
            <a:xfrm>
              <a:off x="0" y="-47625"/>
              <a:ext cx="2304237" cy="18126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19"/>
          <p:cNvSpPr txBox="1"/>
          <p:nvPr/>
        </p:nvSpPr>
        <p:spPr>
          <a:xfrm>
            <a:off x="1520446" y="4286830"/>
            <a:ext cx="41178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The Baseline</a:t>
            </a:r>
            <a:endParaRPr sz="3600" dirty="0">
              <a:solidFill>
                <a:schemeClr val="bg1"/>
              </a:solidFill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6519000" y="4286830"/>
            <a:ext cx="5250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Testing Assumptions</a:t>
            </a:r>
            <a:endParaRPr sz="3600" dirty="0">
              <a:solidFill>
                <a:schemeClr val="bg1"/>
              </a:solidFill>
            </a:endParaRPr>
          </a:p>
        </p:txBody>
      </p:sp>
      <p:sp>
        <p:nvSpPr>
          <p:cNvPr id="222" name="Google Shape;222;p19"/>
          <p:cNvSpPr txBox="1"/>
          <p:nvPr/>
        </p:nvSpPr>
        <p:spPr>
          <a:xfrm>
            <a:off x="12429981" y="4237324"/>
            <a:ext cx="4590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3600" dirty="0">
                <a:solidFill>
                  <a:schemeClr val="bg1"/>
                </a:solidFill>
              </a:rPr>
              <a:t>The Surprise Finding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23" name="Google Shape;223;p19"/>
          <p:cNvSpPr txBox="1"/>
          <p:nvPr/>
        </p:nvSpPr>
        <p:spPr>
          <a:xfrm>
            <a:off x="2125996" y="5143500"/>
            <a:ext cx="2906700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7"/>
              </a:lnSpc>
            </a:pPr>
            <a:r>
              <a:rPr lang="en-US" sz="2400" dirty="0">
                <a:solidFill>
                  <a:schemeClr val="bg1"/>
                </a:solidFill>
              </a:rPr>
              <a:t>Kaplan-Meier curve shows the overall probability of seedling survival dropping over time.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24" name="Google Shape;224;p19"/>
          <p:cNvSpPr txBox="1"/>
          <p:nvPr/>
        </p:nvSpPr>
        <p:spPr>
          <a:xfrm>
            <a:off x="7423800" y="5156005"/>
            <a:ext cx="344040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7"/>
              </a:lnSpc>
            </a:pPr>
            <a:r>
              <a:rPr lang="en-US" sz="2400" dirty="0">
                <a:solidFill>
                  <a:schemeClr val="bg1"/>
                </a:solidFill>
              </a:rPr>
              <a:t>Applied the Log-Rank test to compare survival across Light Categories (Low, Medium, High).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12687081" y="5143500"/>
            <a:ext cx="4075800" cy="2030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 b="0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 statistically significant difference in survival distributions based solely on light (p &gt; 0.05 for all comparisons).</a:t>
            </a:r>
            <a:endParaRPr sz="800" dirty="0"/>
          </a:p>
        </p:txBody>
      </p:sp>
      <p:sp>
        <p:nvSpPr>
          <p:cNvPr id="226" name="Google Shape;226;p19"/>
          <p:cNvSpPr txBox="1"/>
          <p:nvPr/>
        </p:nvSpPr>
        <p:spPr>
          <a:xfrm>
            <a:off x="1028700" y="777400"/>
            <a:ext cx="162306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u="none" strike="noStrike" cap="none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Baseline Survival &amp; Group Comparisons</a:t>
            </a:r>
            <a:endParaRPr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2E00"/>
        </a:solidFill>
        <a:effectLst/>
      </p:bgPr>
    </p:bg>
    <p:spTree>
      <p:nvGrpSpPr>
        <p:cNvPr id="1" name="Shape 205">
          <a:extLst>
            <a:ext uri="{FF2B5EF4-FFF2-40B4-BE49-F238E27FC236}">
              <a16:creationId xmlns:a16="http://schemas.microsoft.com/office/drawing/2014/main" id="{5137FA3C-71DA-3EF8-B1F6-6F670DAF8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09;p19">
            <a:extLst>
              <a:ext uri="{FF2B5EF4-FFF2-40B4-BE49-F238E27FC236}">
                <a16:creationId xmlns:a16="http://schemas.microsoft.com/office/drawing/2014/main" id="{ABFCD31B-20EC-05D7-7CB2-8FFDC67534D1}"/>
              </a:ext>
            </a:extLst>
          </p:cNvPr>
          <p:cNvCxnSpPr/>
          <p:nvPr/>
        </p:nvCxnSpPr>
        <p:spPr>
          <a:xfrm rot="10800000" flipH="1">
            <a:off x="4406104" y="8912532"/>
            <a:ext cx="12853196" cy="19050"/>
          </a:xfrm>
          <a:prstGeom prst="straightConnector1">
            <a:avLst/>
          </a:prstGeom>
          <a:noFill/>
          <a:ln w="28575" cap="flat" cmpd="sng">
            <a:solidFill>
              <a:srgbClr val="FE2E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F0DFE2F7-E83E-B3AD-33B6-A463DF613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600" y="310874"/>
            <a:ext cx="15036800" cy="9665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7925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2E2E2E"/>
            </a:gs>
          </a:gsLst>
          <a:lin ang="0" scaled="0"/>
        </a:gra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4"/>
          <p:cNvSpPr txBox="1"/>
          <p:nvPr/>
        </p:nvSpPr>
        <p:spPr>
          <a:xfrm>
            <a:off x="419100" y="664907"/>
            <a:ext cx="174498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Multivariate Analysis: Cox Proportional Hazards</a:t>
            </a:r>
            <a:endParaRPr sz="60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CA9908-A856-3CD9-9B1C-14E30B3F85E0}"/>
              </a:ext>
            </a:extLst>
          </p:cNvPr>
          <p:cNvSpPr txBox="1"/>
          <p:nvPr/>
        </p:nvSpPr>
        <p:spPr>
          <a:xfrm>
            <a:off x="1085850" y="4224130"/>
            <a:ext cx="8058150" cy="3890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Fungal Symbiosis: </a:t>
            </a:r>
            <a:r>
              <a:rPr lang="en-US" sz="2800" dirty="0">
                <a:solidFill>
                  <a:schemeClr val="bg1"/>
                </a:solidFill>
              </a:rPr>
              <a:t>Mycorrhizal association (</a:t>
            </a:r>
            <a:r>
              <a:rPr lang="en-US" sz="2800" b="1" dirty="0" err="1">
                <a:solidFill>
                  <a:schemeClr val="bg1"/>
                </a:solidFill>
              </a:rPr>
              <a:t>Myco_EMF</a:t>
            </a:r>
            <a:r>
              <a:rPr lang="en-US" sz="2800" b="1" dirty="0">
                <a:solidFill>
                  <a:schemeClr val="bg1"/>
                </a:solidFill>
              </a:rPr>
              <a:t>) </a:t>
            </a:r>
            <a:r>
              <a:rPr lang="en-US" sz="2800" dirty="0">
                <a:solidFill>
                  <a:schemeClr val="bg1"/>
                </a:solidFill>
              </a:rPr>
              <a:t>decreased the hazard of death by 57% (HR 0.43).</a:t>
            </a:r>
          </a:p>
          <a:p>
            <a:pPr marL="457200" indent="-45720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Species Resiliency: </a:t>
            </a:r>
            <a:r>
              <a:rPr lang="en-US" sz="2800" dirty="0">
                <a:solidFill>
                  <a:schemeClr val="bg1"/>
                </a:solidFill>
              </a:rPr>
              <a:t>Quercus rubra (Red Oak) demonstrated a 51% lower mortality risk (HR 0.49).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1F63FC-D983-E45E-9C33-67208C0BCA63}"/>
              </a:ext>
            </a:extLst>
          </p:cNvPr>
          <p:cNvSpPr txBox="1"/>
          <p:nvPr/>
        </p:nvSpPr>
        <p:spPr>
          <a:xfrm>
            <a:off x="9144000" y="4224130"/>
            <a:ext cx="8058150" cy="4536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Light Exposure</a:t>
            </a:r>
            <a:r>
              <a:rPr lang="en-US" sz="2800" dirty="0">
                <a:solidFill>
                  <a:schemeClr val="bg1"/>
                </a:solidFill>
              </a:rPr>
              <a:t>: High light intensity (</a:t>
            </a:r>
            <a:r>
              <a:rPr lang="en-US" sz="2800" dirty="0" err="1">
                <a:solidFill>
                  <a:schemeClr val="bg1"/>
                </a:solidFill>
              </a:rPr>
              <a:t>Light_ISF</a:t>
            </a:r>
            <a:r>
              <a:rPr lang="en-US" sz="2800" dirty="0">
                <a:solidFill>
                  <a:schemeClr val="bg1"/>
                </a:solidFill>
              </a:rPr>
              <a:t>), drastically increased mortality risk with a HR 4.09.</a:t>
            </a:r>
          </a:p>
          <a:p>
            <a:pPr marL="457200" indent="-45720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Adult Proximity: </a:t>
            </a:r>
            <a:r>
              <a:rPr lang="en-US" sz="2800" dirty="0">
                <a:solidFill>
                  <a:schemeClr val="bg1"/>
                </a:solidFill>
              </a:rPr>
              <a:t>Soil/proximity to </a:t>
            </a:r>
            <a:r>
              <a:rPr lang="en-US" sz="2800" b="1" dirty="0">
                <a:solidFill>
                  <a:schemeClr val="bg1"/>
                </a:solidFill>
              </a:rPr>
              <a:t>Adult </a:t>
            </a:r>
            <a:r>
              <a:rPr lang="en-US" sz="2800" dirty="0">
                <a:solidFill>
                  <a:schemeClr val="bg1"/>
                </a:solidFill>
              </a:rPr>
              <a:t>trees showed mixed effects (HRs fluctuating above and below 1), indicating complex local resource competition.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BCD65C-C84E-9FD7-8013-53BA367E052E}"/>
              </a:ext>
            </a:extLst>
          </p:cNvPr>
          <p:cNvSpPr txBox="1"/>
          <p:nvPr/>
        </p:nvSpPr>
        <p:spPr>
          <a:xfrm>
            <a:off x="1854184" y="2021535"/>
            <a:ext cx="1457963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Approach</a:t>
            </a:r>
            <a:r>
              <a:rPr lang="en-US" sz="2800" dirty="0">
                <a:solidFill>
                  <a:schemeClr val="bg1"/>
                </a:solidFill>
              </a:rPr>
              <a:t>: Evaluated all features simultaneously using a </a:t>
            </a:r>
            <a:r>
              <a:rPr lang="en-US" sz="2800" dirty="0" err="1">
                <a:solidFill>
                  <a:schemeClr val="bg1"/>
                </a:solidFill>
              </a:rPr>
              <a:t>CoxPH</a:t>
            </a:r>
            <a:r>
              <a:rPr lang="en-US" sz="2800" dirty="0">
                <a:solidFill>
                  <a:schemeClr val="bg1"/>
                </a:solidFill>
              </a:rPr>
              <a:t> model with regularization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endParaRPr lang="en-US" sz="3200" b="1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Significant Protective Factors</a:t>
            </a:r>
            <a:r>
              <a:rPr lang="en-US" sz="3200" dirty="0">
                <a:solidFill>
                  <a:schemeClr val="bg1"/>
                </a:solidFill>
              </a:rPr>
              <a:t>:                 </a:t>
            </a:r>
            <a:r>
              <a:rPr lang="en-US" sz="3200" b="1" dirty="0">
                <a:solidFill>
                  <a:schemeClr val="bg1"/>
                </a:solidFill>
              </a:rPr>
              <a:t>Major Risk Factors: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0E124AB-671E-9B2D-CC7C-FE938D740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Quercus rubra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(Red Oak) demonstrated a 51% lower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6C815D5C-2847-50CF-6416-41AD958EA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821" y="-17776"/>
            <a:ext cx="13067815" cy="1030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8418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Shape 144">
          <a:extLst>
            <a:ext uri="{FF2B5EF4-FFF2-40B4-BE49-F238E27FC236}">
              <a16:creationId xmlns:a16="http://schemas.microsoft.com/office/drawing/2014/main" id="{3025AF1E-48C8-67F3-01BE-40F99D38D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>
            <a:extLst>
              <a:ext uri="{FF2B5EF4-FFF2-40B4-BE49-F238E27FC236}">
                <a16:creationId xmlns:a16="http://schemas.microsoft.com/office/drawing/2014/main" id="{744C718E-8379-8C4D-5F9F-38F7481B90A1}"/>
              </a:ext>
            </a:extLst>
          </p:cNvPr>
          <p:cNvSpPr txBox="1"/>
          <p:nvPr/>
        </p:nvSpPr>
        <p:spPr>
          <a:xfrm>
            <a:off x="10632133" y="1564337"/>
            <a:ext cx="6231000" cy="125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4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Deep Learning Approach: </a:t>
            </a:r>
            <a:r>
              <a:rPr lang="en-US" sz="48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DeepSurv</a:t>
            </a:r>
            <a:endParaRPr sz="48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51" name="Google Shape;151;p16">
            <a:extLst>
              <a:ext uri="{FF2B5EF4-FFF2-40B4-BE49-F238E27FC236}">
                <a16:creationId xmlns:a16="http://schemas.microsoft.com/office/drawing/2014/main" id="{BAD76503-3301-EFB7-0408-71C0D67CFB7B}"/>
              </a:ext>
            </a:extLst>
          </p:cNvPr>
          <p:cNvCxnSpPr/>
          <p:nvPr/>
        </p:nvCxnSpPr>
        <p:spPr>
          <a:xfrm>
            <a:off x="14461573" y="8931582"/>
            <a:ext cx="2797727" cy="0"/>
          </a:xfrm>
          <a:prstGeom prst="straightConnector1">
            <a:avLst/>
          </a:prstGeom>
          <a:noFill/>
          <a:ln w="28575" cap="flat" cmpd="sng">
            <a:solidFill>
              <a:srgbClr val="E6E6E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895CD5A-D338-04F8-932F-72054F3840E1}"/>
              </a:ext>
            </a:extLst>
          </p:cNvPr>
          <p:cNvSpPr txBox="1"/>
          <p:nvPr/>
        </p:nvSpPr>
        <p:spPr>
          <a:xfrm>
            <a:off x="9588266" y="3429000"/>
            <a:ext cx="8318734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37719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Architecture</a:t>
            </a: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Implemented a Multi-Layer Perceptron (MLP) using </a:t>
            </a:r>
            <a:r>
              <a:rPr lang="en-US" sz="2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PyTorch</a:t>
            </a: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the </a:t>
            </a:r>
            <a:r>
              <a:rPr lang="en-US" sz="28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pycox</a:t>
            </a: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library</a:t>
            </a:r>
          </a:p>
          <a:p>
            <a:pPr marL="285750" indent="-37719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Model Performance</a:t>
            </a: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C-index of 0.7396</a:t>
            </a:r>
          </a:p>
          <a:p>
            <a:pPr marL="285750" indent="-37719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Risk Stratification</a:t>
            </a: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The model successfully bifurcates the test dataset into distinct risk profiles:</a:t>
            </a:r>
          </a:p>
          <a:p>
            <a:pPr marL="285750" lvl="8" indent="-37719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High Risk (Orange):</a:t>
            </a: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Near-total mortality by day 70.</a:t>
            </a:r>
          </a:p>
          <a:p>
            <a:pPr marL="285750" lvl="8" indent="-37719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Low Risk (Blue): </a:t>
            </a: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Stabilizes at a ~60% survival probability.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35723795-F0DB-B5D4-7998-D40F2719F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42" y="1564336"/>
            <a:ext cx="9419824" cy="762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6044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2E00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2"/>
          <p:cNvSpPr txBox="1"/>
          <p:nvPr/>
        </p:nvSpPr>
        <p:spPr>
          <a:xfrm>
            <a:off x="6083260" y="3841638"/>
            <a:ext cx="6397200" cy="298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00" b="0" i="0" u="none" strike="noStrike" cap="none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Model Evaluation &amp; Final Insights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D01AFD-52EE-AB1F-6B0F-FAF29CEB88EF}"/>
              </a:ext>
            </a:extLst>
          </p:cNvPr>
          <p:cNvSpPr txBox="1"/>
          <p:nvPr/>
        </p:nvSpPr>
        <p:spPr>
          <a:xfrm>
            <a:off x="13417169" y="2623533"/>
            <a:ext cx="403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Modern Approach</a:t>
            </a:r>
            <a:r>
              <a:rPr lang="en-US" sz="2400" dirty="0">
                <a:solidFill>
                  <a:schemeClr val="bg1"/>
                </a:solidFill>
              </a:rPr>
              <a:t>: </a:t>
            </a:r>
            <a:r>
              <a:rPr lang="en-US" sz="2400" dirty="0" err="1">
                <a:solidFill>
                  <a:schemeClr val="bg1"/>
                </a:solidFill>
              </a:rPr>
              <a:t>DeepSurv</a:t>
            </a:r>
            <a:r>
              <a:rPr lang="en-US" sz="2400" dirty="0">
                <a:solidFill>
                  <a:schemeClr val="bg1"/>
                </a:solidFill>
              </a:rPr>
              <a:t> achieved a Test C-Index of 0.7396</a:t>
            </a:r>
          </a:p>
        </p:txBody>
      </p:sp>
      <p:cxnSp>
        <p:nvCxnSpPr>
          <p:cNvPr id="5" name="Curved Connector 4">
            <a:extLst>
              <a:ext uri="{FF2B5EF4-FFF2-40B4-BE49-F238E27FC236}">
                <a16:creationId xmlns:a16="http://schemas.microsoft.com/office/drawing/2014/main" id="{ADDC2F63-97DA-2396-3611-5EF4EDD5DFCE}"/>
              </a:ext>
            </a:extLst>
          </p:cNvPr>
          <p:cNvCxnSpPr>
            <a:cxnSpLocks/>
            <a:endCxn id="2" idx="2"/>
          </p:cNvCxnSpPr>
          <p:nvPr/>
        </p:nvCxnSpPr>
        <p:spPr>
          <a:xfrm rot="10800000">
            <a:off x="2990852" y="3823861"/>
            <a:ext cx="2954548" cy="1319638"/>
          </a:xfrm>
          <a:prstGeom prst="curved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8CA20F7-3841-93AE-42A1-A95101E57E62}"/>
              </a:ext>
            </a:extLst>
          </p:cNvPr>
          <p:cNvSpPr txBox="1"/>
          <p:nvPr/>
        </p:nvSpPr>
        <p:spPr>
          <a:xfrm>
            <a:off x="4133849" y="7024173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Advice for the Forestry Expert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5BD045-E4BD-84CC-AFF8-DAEAE937194D}"/>
              </a:ext>
            </a:extLst>
          </p:cNvPr>
          <p:cNvSpPr txBox="1"/>
          <p:nvPr/>
        </p:nvSpPr>
        <p:spPr>
          <a:xfrm>
            <a:off x="1352550" y="8161408"/>
            <a:ext cx="365760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Focus reforestation efforts on </a:t>
            </a:r>
            <a:r>
              <a:rPr lang="en-US" sz="2000" b="1" dirty="0">
                <a:solidFill>
                  <a:schemeClr val="bg1"/>
                </a:solidFill>
              </a:rPr>
              <a:t>Quercus Rubra </a:t>
            </a:r>
            <a:r>
              <a:rPr lang="en-US" sz="2000" dirty="0">
                <a:solidFill>
                  <a:schemeClr val="bg1"/>
                </a:solidFill>
              </a:rPr>
              <a:t>and other high-resiliency species identified by the model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5095D5-F0A5-0138-8E6E-76D90821B434}"/>
              </a:ext>
            </a:extLst>
          </p:cNvPr>
          <p:cNvSpPr txBox="1"/>
          <p:nvPr/>
        </p:nvSpPr>
        <p:spPr>
          <a:xfrm>
            <a:off x="6705600" y="8161408"/>
            <a:ext cx="44767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Inoculate soil with EMF mycorrhizal fungi prior to planting.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E78B7A-A19C-67F4-73E9-4C7E8EA57A9A}"/>
              </a:ext>
            </a:extLst>
          </p:cNvPr>
          <p:cNvSpPr txBox="1"/>
          <p:nvPr/>
        </p:nvSpPr>
        <p:spPr>
          <a:xfrm>
            <a:off x="12877800" y="8161408"/>
            <a:ext cx="40576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Manage adult tree proximity and actively shield seedlings from extreme direct light (High ISF).</a:t>
            </a:r>
            <a:endParaRPr lang="en-US" sz="2000" dirty="0"/>
          </a:p>
        </p:txBody>
      </p: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893B68DB-498B-6DF1-27AF-0EFEBF93624C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rot="5400000">
            <a:off x="5605815" y="5061374"/>
            <a:ext cx="675570" cy="5524498"/>
          </a:xfrm>
          <a:prstGeom prst="curved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0CE4F47C-B930-FB5D-0D46-4B174BB98314}"/>
              </a:ext>
            </a:extLst>
          </p:cNvPr>
          <p:cNvCxnSpPr>
            <a:stCxn id="9" idx="2"/>
            <a:endCxn id="14" idx="0"/>
          </p:cNvCxnSpPr>
          <p:nvPr/>
        </p:nvCxnSpPr>
        <p:spPr>
          <a:xfrm rot="16200000" flipH="1">
            <a:off x="8487127" y="7704559"/>
            <a:ext cx="675570" cy="238127"/>
          </a:xfrm>
          <a:prstGeom prst="curved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0D3A0887-D6C5-DE18-C3EC-236994EB1647}"/>
              </a:ext>
            </a:extLst>
          </p:cNvPr>
          <p:cNvCxnSpPr>
            <a:stCxn id="9" idx="2"/>
            <a:endCxn id="16" idx="0"/>
          </p:cNvCxnSpPr>
          <p:nvPr/>
        </p:nvCxnSpPr>
        <p:spPr>
          <a:xfrm rot="16200000" flipH="1">
            <a:off x="11468452" y="4723235"/>
            <a:ext cx="675570" cy="6200776"/>
          </a:xfrm>
          <a:prstGeom prst="curved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F082093-C060-490E-75BA-2D85388FA92A}"/>
              </a:ext>
            </a:extLst>
          </p:cNvPr>
          <p:cNvSpPr txBox="1"/>
          <p:nvPr/>
        </p:nvSpPr>
        <p:spPr>
          <a:xfrm>
            <a:off x="971552" y="2623532"/>
            <a:ext cx="403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Baseline Performance</a:t>
            </a:r>
            <a:r>
              <a:rPr lang="en-US" sz="2400" dirty="0">
                <a:solidFill>
                  <a:schemeClr val="bg1"/>
                </a:solidFill>
              </a:rPr>
              <a:t>: </a:t>
            </a:r>
            <a:r>
              <a:rPr lang="en-US" sz="2400" dirty="0" err="1">
                <a:solidFill>
                  <a:schemeClr val="bg1"/>
                </a:solidFill>
              </a:rPr>
              <a:t>CoxPH</a:t>
            </a:r>
            <a:r>
              <a:rPr lang="en-US" sz="2400" dirty="0">
                <a:solidFill>
                  <a:schemeClr val="bg1"/>
                </a:solidFill>
              </a:rPr>
              <a:t> achieved a Test C-Index of 0.7608</a:t>
            </a:r>
          </a:p>
        </p:txBody>
      </p:sp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C286E20F-DB3D-62C2-AAC9-0EDFD01DE36A}"/>
              </a:ext>
            </a:extLst>
          </p:cNvPr>
          <p:cNvCxnSpPr>
            <a:cxnSpLocks/>
            <a:stCxn id="270" idx="3"/>
            <a:endCxn id="3" idx="2"/>
          </p:cNvCxnSpPr>
          <p:nvPr/>
        </p:nvCxnSpPr>
        <p:spPr>
          <a:xfrm flipV="1">
            <a:off x="12480460" y="3823862"/>
            <a:ext cx="2956009" cy="1508954"/>
          </a:xfrm>
          <a:prstGeom prst="curved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26DA24C-8DF6-B605-C92E-B1DCB71044DA}"/>
              </a:ext>
            </a:extLst>
          </p:cNvPr>
          <p:cNvSpPr txBox="1"/>
          <p:nvPr/>
        </p:nvSpPr>
        <p:spPr>
          <a:xfrm>
            <a:off x="5943600" y="512028"/>
            <a:ext cx="59655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Key Insight</a:t>
            </a:r>
            <a:r>
              <a:rPr lang="en-US" sz="2400" dirty="0">
                <a:solidFill>
                  <a:schemeClr val="bg1"/>
                </a:solidFill>
              </a:rPr>
              <a:t>: The similar performance indicates that environmental impacts on seedling survival are direct and linear. A complex 'black box' model is not required to understand these tree dynamics.</a:t>
            </a:r>
          </a:p>
        </p:txBody>
      </p:sp>
      <p:cxnSp>
        <p:nvCxnSpPr>
          <p:cNvPr id="13" name="Curved Connector 12">
            <a:extLst>
              <a:ext uri="{FF2B5EF4-FFF2-40B4-BE49-F238E27FC236}">
                <a16:creationId xmlns:a16="http://schemas.microsoft.com/office/drawing/2014/main" id="{6885BB90-6B07-2F5F-EE95-E3C3490C799A}"/>
              </a:ext>
            </a:extLst>
          </p:cNvPr>
          <p:cNvCxnSpPr>
            <a:cxnSpLocks/>
            <a:stCxn id="270" idx="0"/>
            <a:endCxn id="8" idx="2"/>
          </p:cNvCxnSpPr>
          <p:nvPr/>
        </p:nvCxnSpPr>
        <p:spPr>
          <a:xfrm rot="16200000" flipV="1">
            <a:off x="8408805" y="2968582"/>
            <a:ext cx="1390618" cy="355493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481</Words>
  <Application>Microsoft Macintosh PowerPoint</Application>
  <PresentationFormat>Custom</PresentationFormat>
  <Paragraphs>44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Lora</vt:lpstr>
      <vt:lpstr>Open Sans</vt:lpstr>
      <vt:lpstr>-webkit-standard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Eduard-Andrei PACIOGA (140419)</cp:lastModifiedBy>
  <cp:revision>3</cp:revision>
  <dcterms:modified xsi:type="dcterms:W3CDTF">2026-03-15T14:27:26Z</dcterms:modified>
</cp:coreProperties>
</file>