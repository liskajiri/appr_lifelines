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9" r:id="rId4"/>
    <p:sldId id="262" r:id="rId5"/>
    <p:sldId id="267" r:id="rId6"/>
    <p:sldId id="265" r:id="rId7"/>
    <p:sldId id="263" r:id="rId8"/>
    <p:sldId id="264" r:id="rId9"/>
    <p:sldId id="266" r:id="rId10"/>
    <p:sldId id="268" r:id="rId11"/>
    <p:sldId id="269" r:id="rId12"/>
    <p:sldId id="270" r:id="rId13"/>
  </p:sldIdLst>
  <p:sldSz cx="18288000" cy="10287000"/>
  <p:notesSz cx="6858000" cy="9144000"/>
  <p:embeddedFontLst>
    <p:embeddedFont>
      <p:font typeface="Lora" pitchFamily="2" charset="77"/>
      <p:regular r:id="rId15"/>
      <p:bold r:id="rId16"/>
      <p:italic r:id="rId17"/>
      <p:boldItalic r:id="rId18"/>
    </p:embeddedFont>
    <p:embeddedFont>
      <p:font typeface="Open Sans" panose="020B0606030504020204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D0708EE-9D19-4114-B6EC-E3F537DC773B}">
  <a:tblStyle styleId="{3D0708EE-9D19-4114-B6EC-E3F537DC773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45"/>
    <p:restoredTop sz="94629"/>
  </p:normalViewPr>
  <p:slideViewPr>
    <p:cSldViewPr snapToGrid="0">
      <p:cViewPr>
        <p:scale>
          <a:sx n="67" d="100"/>
          <a:sy n="67" d="100"/>
        </p:scale>
        <p:origin x="264" y="2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6;p3"/>
          <p:cNvGrpSpPr/>
          <p:nvPr/>
        </p:nvGrpSpPr>
        <p:grpSpPr>
          <a:xfrm>
            <a:off x="14859000" y="-200920"/>
            <a:ext cx="3429041" cy="3629961"/>
            <a:chOff x="0" y="-47625"/>
            <a:chExt cx="812800" cy="860425"/>
          </a:xfrm>
        </p:grpSpPr>
        <p:sp>
          <p:nvSpPr>
            <p:cNvPr id="17" name="Google Shape;17;p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</p:sp>
        <p:sp>
          <p:nvSpPr>
            <p:cNvPr id="18" name="Google Shape;18;p3"/>
            <p:cNvSpPr txBox="1"/>
            <p:nvPr/>
          </p:nvSpPr>
          <p:spPr>
            <a:xfrm>
              <a:off x="0" y="-47625"/>
              <a:ext cx="812700" cy="86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" name="Google Shape;19;p3"/>
          <p:cNvGrpSpPr/>
          <p:nvPr/>
        </p:nvGrpSpPr>
        <p:grpSpPr>
          <a:xfrm>
            <a:off x="14859000" y="3228080"/>
            <a:ext cx="3429041" cy="3629961"/>
            <a:chOff x="0" y="-47625"/>
            <a:chExt cx="812800" cy="860425"/>
          </a:xfrm>
        </p:grpSpPr>
        <p:sp>
          <p:nvSpPr>
            <p:cNvPr id="20" name="Google Shape;20;p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E2E00"/>
            </a:solidFill>
            <a:ln>
              <a:noFill/>
            </a:ln>
          </p:spPr>
        </p:sp>
        <p:sp>
          <p:nvSpPr>
            <p:cNvPr id="21" name="Google Shape;21;p3"/>
            <p:cNvSpPr txBox="1"/>
            <p:nvPr/>
          </p:nvSpPr>
          <p:spPr>
            <a:xfrm>
              <a:off x="0" y="-47625"/>
              <a:ext cx="812700" cy="86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" name="Google Shape;22;p3"/>
          <p:cNvGrpSpPr/>
          <p:nvPr/>
        </p:nvGrpSpPr>
        <p:grpSpPr>
          <a:xfrm>
            <a:off x="14859000" y="6657080"/>
            <a:ext cx="3429041" cy="3629961"/>
            <a:chOff x="0" y="-47625"/>
            <a:chExt cx="812800" cy="860425"/>
          </a:xfrm>
        </p:grpSpPr>
        <p:sp>
          <p:nvSpPr>
            <p:cNvPr id="23" name="Google Shape;23;p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646464"/>
            </a:solidFill>
            <a:ln>
              <a:noFill/>
            </a:ln>
          </p:spPr>
        </p:sp>
        <p:sp>
          <p:nvSpPr>
            <p:cNvPr id="24" name="Google Shape;24;p3"/>
            <p:cNvSpPr txBox="1"/>
            <p:nvPr/>
          </p:nvSpPr>
          <p:spPr>
            <a:xfrm>
              <a:off x="0" y="-47625"/>
              <a:ext cx="812700" cy="86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" name="Google Shape;25;p3"/>
          <p:cNvSpPr/>
          <p:nvPr/>
        </p:nvSpPr>
        <p:spPr>
          <a:xfrm>
            <a:off x="15297263" y="3936876"/>
            <a:ext cx="2552475" cy="2413249"/>
          </a:xfrm>
          <a:custGeom>
            <a:avLst/>
            <a:gdLst/>
            <a:ahLst/>
            <a:cxnLst/>
            <a:rect l="l" t="t" r="r" b="b"/>
            <a:pathLst>
              <a:path w="2552475" h="2413249" extrusionOk="0">
                <a:moveTo>
                  <a:pt x="0" y="0"/>
                </a:moveTo>
                <a:lnTo>
                  <a:pt x="2552474" y="0"/>
                </a:lnTo>
                <a:lnTo>
                  <a:pt x="2552474" y="2413248"/>
                </a:lnTo>
                <a:lnTo>
                  <a:pt x="0" y="24132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6" name="Google Shape;26;p3"/>
          <p:cNvSpPr/>
          <p:nvPr/>
        </p:nvSpPr>
        <p:spPr>
          <a:xfrm>
            <a:off x="15698663" y="7169700"/>
            <a:ext cx="1749675" cy="2805601"/>
          </a:xfrm>
          <a:custGeom>
            <a:avLst/>
            <a:gdLst/>
            <a:ahLst/>
            <a:cxnLst/>
            <a:rect l="l" t="t" r="r" b="b"/>
            <a:pathLst>
              <a:path w="1749675" h="2805601" extrusionOk="0">
                <a:moveTo>
                  <a:pt x="0" y="0"/>
                </a:moveTo>
                <a:lnTo>
                  <a:pt x="1749674" y="0"/>
                </a:lnTo>
                <a:lnTo>
                  <a:pt x="1749674" y="2805600"/>
                </a:lnTo>
                <a:lnTo>
                  <a:pt x="0" y="28056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27" name="Google Shape;27;p3"/>
          <p:cNvSpPr/>
          <p:nvPr/>
        </p:nvSpPr>
        <p:spPr>
          <a:xfrm>
            <a:off x="15459735" y="600735"/>
            <a:ext cx="2227530" cy="2227530"/>
          </a:xfrm>
          <a:custGeom>
            <a:avLst/>
            <a:gdLst/>
            <a:ahLst/>
            <a:cxnLst/>
            <a:rect l="l" t="t" r="r" b="b"/>
            <a:pathLst>
              <a:path w="2227530" h="2227530" extrusionOk="0">
                <a:moveTo>
                  <a:pt x="0" y="0"/>
                </a:moveTo>
                <a:lnTo>
                  <a:pt x="2227530" y="0"/>
                </a:lnTo>
                <a:lnTo>
                  <a:pt x="2227530" y="2227530"/>
                </a:lnTo>
                <a:lnTo>
                  <a:pt x="0" y="22275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</p:sp>
      <p:cxnSp>
        <p:nvCxnSpPr>
          <p:cNvPr id="28" name="Google Shape;28;p3"/>
          <p:cNvCxnSpPr/>
          <p:nvPr/>
        </p:nvCxnSpPr>
        <p:spPr>
          <a:xfrm>
            <a:off x="1028700" y="8930016"/>
            <a:ext cx="12801600" cy="0"/>
          </a:xfrm>
          <a:prstGeom prst="straightConnector1">
            <a:avLst/>
          </a:prstGeom>
          <a:noFill/>
          <a:ln w="285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9" name="Google Shape;29;p3"/>
          <p:cNvCxnSpPr/>
          <p:nvPr/>
        </p:nvCxnSpPr>
        <p:spPr>
          <a:xfrm>
            <a:off x="1028700" y="1356984"/>
            <a:ext cx="12801600" cy="0"/>
          </a:xfrm>
          <a:prstGeom prst="straightConnector1">
            <a:avLst/>
          </a:prstGeom>
          <a:noFill/>
          <a:ln w="285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bg>
      <p:bgPr>
        <a:solidFill>
          <a:schemeClr val="dk1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>
            <a:spLocks noGrp="1"/>
          </p:cNvSpPr>
          <p:nvPr>
            <p:ph type="pic" idx="2"/>
          </p:nvPr>
        </p:nvSpPr>
        <p:spPr>
          <a:xfrm>
            <a:off x="10855800" y="1029975"/>
            <a:ext cx="7430700" cy="8223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rgbClr val="FE2E00"/>
        </a:solid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>
            <a:off x="9718040" y="1633386"/>
            <a:ext cx="7541260" cy="7020227"/>
          </a:xfrm>
          <a:custGeom>
            <a:avLst/>
            <a:gdLst/>
            <a:ahLst/>
            <a:cxnLst/>
            <a:rect l="l" t="t" r="r" b="b"/>
            <a:pathLst>
              <a:path w="7541260" h="7020227" extrusionOk="0">
                <a:moveTo>
                  <a:pt x="0" y="0"/>
                </a:moveTo>
                <a:lnTo>
                  <a:pt x="7541260" y="0"/>
                </a:lnTo>
                <a:lnTo>
                  <a:pt x="7541260" y="7020228"/>
                </a:lnTo>
                <a:lnTo>
                  <a:pt x="0" y="702022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bg>
      <p:bgPr>
        <a:solidFill>
          <a:srgbClr val="FE2E00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/>
          <p:nvPr/>
        </p:nvSpPr>
        <p:spPr>
          <a:xfrm>
            <a:off x="10017699" y="1536791"/>
            <a:ext cx="3620800" cy="5531779"/>
          </a:xfrm>
          <a:custGeom>
            <a:avLst/>
            <a:gdLst/>
            <a:ahLst/>
            <a:cxnLst/>
            <a:rect l="l" t="t" r="r" b="b"/>
            <a:pathLst>
              <a:path w="3620800" h="5531779" extrusionOk="0">
                <a:moveTo>
                  <a:pt x="0" y="0"/>
                </a:moveTo>
                <a:lnTo>
                  <a:pt x="3620801" y="0"/>
                </a:lnTo>
                <a:lnTo>
                  <a:pt x="3620801" y="5531778"/>
                </a:lnTo>
                <a:lnTo>
                  <a:pt x="0" y="55317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  <p:sp>
        <p:nvSpPr>
          <p:cNvPr id="36" name="Google Shape;36;p6"/>
          <p:cNvSpPr/>
          <p:nvPr/>
        </p:nvSpPr>
        <p:spPr>
          <a:xfrm>
            <a:off x="13638500" y="3218431"/>
            <a:ext cx="3620800" cy="5531779"/>
          </a:xfrm>
          <a:custGeom>
            <a:avLst/>
            <a:gdLst/>
            <a:ahLst/>
            <a:cxnLst/>
            <a:rect l="l" t="t" r="r" b="b"/>
            <a:pathLst>
              <a:path w="3620800" h="5531779" extrusionOk="0">
                <a:moveTo>
                  <a:pt x="0" y="0"/>
                </a:moveTo>
                <a:lnTo>
                  <a:pt x="3620800" y="0"/>
                </a:lnTo>
                <a:lnTo>
                  <a:pt x="3620800" y="5531778"/>
                </a:lnTo>
                <a:lnTo>
                  <a:pt x="0" y="55317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742425" y="11207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>
            <a:spLocks noGrp="1"/>
          </p:cNvSpPr>
          <p:nvPr>
            <p:ph type="title"/>
          </p:nvPr>
        </p:nvSpPr>
        <p:spPr>
          <a:xfrm>
            <a:off x="742425" y="11207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42425" y="11207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8" name="Google Shape;68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42425" y="112078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0"/>
              <a:buFont typeface="Lora"/>
              <a:buNone/>
              <a:defRPr sz="7000" i="0" u="none" strike="noStrike" cap="none">
                <a:solidFill>
                  <a:schemeClr val="dk1"/>
                </a:solidFill>
                <a:latin typeface="Lora"/>
                <a:ea typeface="Lora"/>
                <a:cs typeface="Lora"/>
                <a:sym typeface="Lor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42425" y="244635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556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Char char="•"/>
              <a:defRPr sz="200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Char char="–"/>
              <a:defRPr sz="200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556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Char char="•"/>
              <a:defRPr sz="200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Char char="–"/>
              <a:defRPr sz="200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Char char="»"/>
              <a:defRPr sz="200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Char char="•"/>
              <a:defRPr sz="200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Char char="•"/>
              <a:defRPr sz="200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Char char="•"/>
              <a:defRPr sz="200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Open Sans"/>
              <a:buChar char="•"/>
              <a:defRPr sz="200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yekenot/tree-survival-prediction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0000"/>
            </a:gs>
            <a:gs pos="100000">
              <a:srgbClr val="2E2E2E"/>
            </a:gs>
          </a:gsLst>
          <a:lin ang="0" scaled="0"/>
        </a:gra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3"/>
          <p:cNvSpPr txBox="1"/>
          <p:nvPr/>
        </p:nvSpPr>
        <p:spPr>
          <a:xfrm>
            <a:off x="1012069" y="1714500"/>
            <a:ext cx="13427100" cy="7573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300" b="0" i="0" u="none" strike="noStrike" cap="none" dirty="0">
                <a:solidFill>
                  <a:srgbClr val="FFFDFC"/>
                </a:solidFill>
                <a:latin typeface="Lora"/>
                <a:ea typeface="Lora"/>
                <a:cs typeface="Lora"/>
                <a:sym typeface="Lora"/>
              </a:rPr>
              <a:t>Tree Survival Prediction</a:t>
            </a:r>
          </a:p>
        </p:txBody>
      </p:sp>
      <p:grpSp>
        <p:nvGrpSpPr>
          <p:cNvPr id="82" name="Google Shape;82;p13"/>
          <p:cNvGrpSpPr/>
          <p:nvPr/>
        </p:nvGrpSpPr>
        <p:grpSpPr>
          <a:xfrm>
            <a:off x="14859000" y="-200918"/>
            <a:ext cx="3429000" cy="3629918"/>
            <a:chOff x="0" y="-47625"/>
            <a:chExt cx="812800" cy="860425"/>
          </a:xfrm>
        </p:grpSpPr>
        <p:sp>
          <p:nvSpPr>
            <p:cNvPr id="83" name="Google Shape;83;p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A0A0A0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Google Shape;84;p13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5" name="Google Shape;85;p13"/>
          <p:cNvGrpSpPr/>
          <p:nvPr/>
        </p:nvGrpSpPr>
        <p:grpSpPr>
          <a:xfrm>
            <a:off x="14859000" y="3228082"/>
            <a:ext cx="3429000" cy="3629918"/>
            <a:chOff x="0" y="-47625"/>
            <a:chExt cx="812800" cy="860425"/>
          </a:xfrm>
        </p:grpSpPr>
        <p:sp>
          <p:nvSpPr>
            <p:cNvPr id="86" name="Google Shape;86;p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FE2E00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Google Shape;87;p13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88" name="Google Shape;88;p13"/>
          <p:cNvGrpSpPr/>
          <p:nvPr/>
        </p:nvGrpSpPr>
        <p:grpSpPr>
          <a:xfrm>
            <a:off x="14859000" y="6657082"/>
            <a:ext cx="3429000" cy="3629918"/>
            <a:chOff x="0" y="-47625"/>
            <a:chExt cx="812800" cy="860425"/>
          </a:xfrm>
        </p:grpSpPr>
        <p:sp>
          <p:nvSpPr>
            <p:cNvPr id="89" name="Google Shape;89;p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646464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Google Shape;90;p13"/>
            <p:cNvSpPr txBox="1"/>
            <p:nvPr/>
          </p:nvSpPr>
          <p:spPr>
            <a:xfrm>
              <a:off x="0" y="-47625"/>
              <a:ext cx="812800" cy="8604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1" name="Google Shape;91;p13"/>
          <p:cNvSpPr/>
          <p:nvPr/>
        </p:nvSpPr>
        <p:spPr>
          <a:xfrm>
            <a:off x="15297263" y="3936876"/>
            <a:ext cx="2552475" cy="2413249"/>
          </a:xfrm>
          <a:custGeom>
            <a:avLst/>
            <a:gdLst/>
            <a:ahLst/>
            <a:cxnLst/>
            <a:rect l="l" t="t" r="r" b="b"/>
            <a:pathLst>
              <a:path w="2552475" h="2413249" extrusionOk="0">
                <a:moveTo>
                  <a:pt x="0" y="0"/>
                </a:moveTo>
                <a:lnTo>
                  <a:pt x="2552474" y="0"/>
                </a:lnTo>
                <a:lnTo>
                  <a:pt x="2552474" y="2413248"/>
                </a:lnTo>
                <a:lnTo>
                  <a:pt x="0" y="241324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2" name="Google Shape;92;p13"/>
          <p:cNvSpPr/>
          <p:nvPr/>
        </p:nvSpPr>
        <p:spPr>
          <a:xfrm>
            <a:off x="15698663" y="7169700"/>
            <a:ext cx="1749675" cy="2805601"/>
          </a:xfrm>
          <a:custGeom>
            <a:avLst/>
            <a:gdLst/>
            <a:ahLst/>
            <a:cxnLst/>
            <a:rect l="l" t="t" r="r" b="b"/>
            <a:pathLst>
              <a:path w="1749675" h="2805601" extrusionOk="0">
                <a:moveTo>
                  <a:pt x="0" y="0"/>
                </a:moveTo>
                <a:lnTo>
                  <a:pt x="1749674" y="0"/>
                </a:lnTo>
                <a:lnTo>
                  <a:pt x="1749674" y="2805600"/>
                </a:lnTo>
                <a:lnTo>
                  <a:pt x="0" y="28056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3" name="Google Shape;93;p13"/>
          <p:cNvSpPr/>
          <p:nvPr/>
        </p:nvSpPr>
        <p:spPr>
          <a:xfrm>
            <a:off x="15459735" y="600735"/>
            <a:ext cx="2227530" cy="2227530"/>
          </a:xfrm>
          <a:custGeom>
            <a:avLst/>
            <a:gdLst/>
            <a:ahLst/>
            <a:cxnLst/>
            <a:rect l="l" t="t" r="r" b="b"/>
            <a:pathLst>
              <a:path w="2227530" h="2227530" extrusionOk="0">
                <a:moveTo>
                  <a:pt x="0" y="0"/>
                </a:moveTo>
                <a:lnTo>
                  <a:pt x="2227530" y="0"/>
                </a:lnTo>
                <a:lnTo>
                  <a:pt x="2227530" y="2227530"/>
                </a:lnTo>
                <a:lnTo>
                  <a:pt x="0" y="222753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98" name="Google Shape;98;p13"/>
          <p:cNvCxnSpPr/>
          <p:nvPr/>
        </p:nvCxnSpPr>
        <p:spPr>
          <a:xfrm>
            <a:off x="1028700" y="8930016"/>
            <a:ext cx="12801600" cy="0"/>
          </a:xfrm>
          <a:prstGeom prst="straightConnector1">
            <a:avLst/>
          </a:prstGeom>
          <a:noFill/>
          <a:ln w="285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9" name="Google Shape;99;p13"/>
          <p:cNvCxnSpPr/>
          <p:nvPr/>
        </p:nvCxnSpPr>
        <p:spPr>
          <a:xfrm>
            <a:off x="1028700" y="1356984"/>
            <a:ext cx="12801600" cy="0"/>
          </a:xfrm>
          <a:prstGeom prst="straightConnector1">
            <a:avLst/>
          </a:prstGeom>
          <a:noFill/>
          <a:ln w="285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0000"/>
            </a:gs>
            <a:gs pos="100000">
              <a:srgbClr val="2E2E2E"/>
            </a:gs>
          </a:gsLst>
          <a:lin ang="0" scaled="0"/>
        </a:gra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8" name="Google Shape;108;p14"/>
          <p:cNvCxnSpPr/>
          <p:nvPr/>
        </p:nvCxnSpPr>
        <p:spPr>
          <a:xfrm>
            <a:off x="4406104" y="8931582"/>
            <a:ext cx="5463540" cy="0"/>
          </a:xfrm>
          <a:prstGeom prst="straightConnector1">
            <a:avLst/>
          </a:prstGeom>
          <a:noFill/>
          <a:ln w="28575" cap="flat" cmpd="sng">
            <a:solidFill>
              <a:srgbClr val="64646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9" name="Google Shape;109;p14"/>
          <p:cNvSpPr txBox="1"/>
          <p:nvPr/>
        </p:nvSpPr>
        <p:spPr>
          <a:xfrm>
            <a:off x="1028700" y="309739"/>
            <a:ext cx="9827100" cy="3262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600" b="0" i="0" u="none" strike="noStrike" cap="none" dirty="0">
                <a:solidFill>
                  <a:srgbClr val="FFFDFC"/>
                </a:solidFill>
                <a:latin typeface="Lora"/>
                <a:ea typeface="Lora"/>
                <a:cs typeface="Lora"/>
                <a:sym typeface="Lora"/>
              </a:rPr>
              <a:t>Introduction &amp; The Dataset</a:t>
            </a:r>
            <a:endParaRPr sz="1200" dirty="0"/>
          </a:p>
        </p:txBody>
      </p:sp>
      <p:sp>
        <p:nvSpPr>
          <p:cNvPr id="110" name="Google Shape;110;p14"/>
          <p:cNvSpPr txBox="1"/>
          <p:nvPr/>
        </p:nvSpPr>
        <p:spPr>
          <a:xfrm>
            <a:off x="1028700" y="4140529"/>
            <a:ext cx="9545515" cy="42226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604521" lvl="1" indent="-276861">
              <a:lnSpc>
                <a:spcPct val="140000"/>
              </a:lnSpc>
              <a:buClr>
                <a:srgbClr val="FFFDFC"/>
              </a:buClr>
              <a:buSzPts val="2400"/>
              <a:buFont typeface="Open Sans"/>
              <a:buChar char="•"/>
            </a:pPr>
            <a:r>
              <a:rPr lang="en-US" sz="2800" b="1" dirty="0">
                <a:solidFill>
                  <a:srgbClr val="FFFDFC"/>
                </a:solidFill>
                <a:latin typeface="Open Sans"/>
                <a:ea typeface="Open Sans"/>
                <a:cs typeface="Open Sans"/>
                <a:sym typeface="Open Sans"/>
              </a:rPr>
              <a:t>Source</a:t>
            </a:r>
            <a:r>
              <a:rPr lang="en-US" sz="2800" dirty="0">
                <a:solidFill>
                  <a:srgbClr val="FFFDFC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800" dirty="0">
                <a:solidFill>
                  <a:srgbClr val="FFFDFC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Kaggle</a:t>
            </a:r>
            <a:endParaRPr lang="en-US" sz="2800" dirty="0">
              <a:solidFill>
                <a:srgbClr val="FFFDFC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604521" lvl="1" indent="-276861">
              <a:lnSpc>
                <a:spcPct val="140000"/>
              </a:lnSpc>
              <a:buClr>
                <a:srgbClr val="FFFDFC"/>
              </a:buClr>
              <a:buSzPts val="2400"/>
              <a:buFont typeface="Open Sans"/>
              <a:buChar char="•"/>
            </a:pPr>
            <a:r>
              <a:rPr lang="en-US" sz="2800" b="1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Project Goal</a:t>
            </a:r>
            <a:r>
              <a:rPr lang="en-US" sz="2800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: Survival Analysis in a real Use Case.</a:t>
            </a:r>
          </a:p>
          <a:p>
            <a:pPr marL="604521" marR="0" lvl="1" indent="-276861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FFFDFC"/>
              </a:buClr>
              <a:buSzPts val="2400"/>
              <a:buFont typeface="Open Sans"/>
              <a:buChar char="•"/>
            </a:pPr>
            <a:r>
              <a:rPr lang="en-US" sz="2800" b="1" dirty="0">
                <a:solidFill>
                  <a:srgbClr val="FFFDFC"/>
                </a:solidFill>
                <a:latin typeface="Open Sans"/>
                <a:ea typeface="Open Sans"/>
                <a:cs typeface="Open Sans"/>
                <a:sym typeface="Open Sans"/>
              </a:rPr>
              <a:t>Defining the Core Variables</a:t>
            </a:r>
            <a:r>
              <a:rPr lang="en-US" sz="2800" dirty="0">
                <a:solidFill>
                  <a:srgbClr val="FFFDFC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</a:p>
          <a:p>
            <a:pPr marL="784860" lvl="8" indent="-457200">
              <a:lnSpc>
                <a:spcPct val="140000"/>
              </a:lnSpc>
              <a:buClr>
                <a:srgbClr val="FFFDFC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FDFC"/>
                </a:solidFill>
                <a:latin typeface="Open Sans"/>
                <a:ea typeface="Open Sans"/>
                <a:cs typeface="Open Sans"/>
                <a:sym typeface="Open Sans"/>
              </a:rPr>
              <a:t>    </a:t>
            </a:r>
            <a:r>
              <a:rPr lang="en-US" sz="2800" b="1" dirty="0">
                <a:solidFill>
                  <a:srgbClr val="FFFDFC"/>
                </a:solidFill>
                <a:latin typeface="Open Sans"/>
                <a:ea typeface="Open Sans"/>
                <a:cs typeface="Open Sans"/>
                <a:sym typeface="Open Sans"/>
              </a:rPr>
              <a:t>Time (T): </a:t>
            </a:r>
            <a:r>
              <a:rPr lang="en-US" sz="2800" dirty="0">
                <a:solidFill>
                  <a:srgbClr val="FFFDFC"/>
                </a:solidFill>
                <a:latin typeface="Open Sans"/>
                <a:ea typeface="Open Sans"/>
                <a:cs typeface="Open Sans"/>
                <a:sym typeface="Open Sans"/>
              </a:rPr>
              <a:t>Duration (in days) the seedling survived</a:t>
            </a:r>
          </a:p>
          <a:p>
            <a:pPr marL="784860" lvl="8" indent="-457200">
              <a:lnSpc>
                <a:spcPct val="140000"/>
              </a:lnSpc>
              <a:buClr>
                <a:srgbClr val="FFFDFC"/>
              </a:buClr>
              <a:buSzPts val="2400"/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rgbClr val="FFFDFC"/>
                </a:solidFill>
                <a:latin typeface="Open Sans"/>
                <a:ea typeface="Open Sans"/>
                <a:cs typeface="Open Sans"/>
                <a:sym typeface="Open Sans"/>
              </a:rPr>
              <a:t>    </a:t>
            </a:r>
            <a:r>
              <a:rPr lang="en-US" sz="2800" b="1" dirty="0">
                <a:solidFill>
                  <a:srgbClr val="FFFDFC"/>
                </a:solidFill>
                <a:latin typeface="Open Sans"/>
                <a:ea typeface="Open Sans"/>
                <a:cs typeface="Open Sans"/>
                <a:sym typeface="Open Sans"/>
              </a:rPr>
              <a:t>Event (E): </a:t>
            </a:r>
            <a:r>
              <a:rPr lang="en-US" sz="2800" dirty="0">
                <a:solidFill>
                  <a:srgbClr val="FFFDFC"/>
                </a:solidFill>
                <a:latin typeface="Open Sans"/>
                <a:ea typeface="Open Sans"/>
                <a:cs typeface="Open Sans"/>
                <a:sym typeface="Open Sans"/>
              </a:rPr>
              <a:t>Status of the seedling (1 = Dead, 0 =   Censored/Harvested).</a:t>
            </a:r>
          </a:p>
          <a:p>
            <a:pPr marL="784860" lvl="8" indent="-457200">
              <a:lnSpc>
                <a:spcPct val="140000"/>
              </a:lnSpc>
              <a:buClr>
                <a:srgbClr val="FFFDFC"/>
              </a:buClr>
              <a:buSzPts val="2400"/>
              <a:buFont typeface="Arial" panose="020B0604020202020204" pitchFamily="34" charset="0"/>
              <a:buChar char="•"/>
            </a:pPr>
            <a:endParaRPr lang="en-US" sz="2800" dirty="0">
              <a:solidFill>
                <a:srgbClr val="FFFDFC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033" name="Picture 9" descr="40 Naturally Beautiful Photos of Trees | PSDFan">
            <a:extLst>
              <a:ext uri="{FF2B5EF4-FFF2-40B4-BE49-F238E27FC236}">
                <a16:creationId xmlns:a16="http://schemas.microsoft.com/office/drawing/2014/main" id="{ABC3FB4B-0751-970B-199E-9BF055956D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4215" y="1333500"/>
            <a:ext cx="7620000" cy="762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 txBox="1"/>
          <p:nvPr/>
        </p:nvSpPr>
        <p:spPr>
          <a:xfrm>
            <a:off x="11028403" y="1171575"/>
            <a:ext cx="6231000" cy="1883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dirty="0">
                <a:latin typeface="Lora"/>
                <a:sym typeface="Lora"/>
              </a:rPr>
              <a:t>EDA &amp; CLEANING</a:t>
            </a:r>
            <a:endParaRPr sz="1200" dirty="0"/>
          </a:p>
        </p:txBody>
      </p:sp>
      <p:cxnSp>
        <p:nvCxnSpPr>
          <p:cNvPr id="151" name="Google Shape;151;p16"/>
          <p:cNvCxnSpPr/>
          <p:nvPr/>
        </p:nvCxnSpPr>
        <p:spPr>
          <a:xfrm>
            <a:off x="14461573" y="8931582"/>
            <a:ext cx="2797727" cy="0"/>
          </a:xfrm>
          <a:prstGeom prst="straightConnector1">
            <a:avLst/>
          </a:prstGeom>
          <a:noFill/>
          <a:ln w="28575" cap="flat" cmpd="sng">
            <a:solidFill>
              <a:srgbClr val="E6E6E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ECA64B70-E37A-FBAC-C141-90B4DFEDF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550" y="933450"/>
            <a:ext cx="8696774" cy="82859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CDFE3EF-9F74-5492-38FA-FA9B5389928C}"/>
              </a:ext>
            </a:extLst>
          </p:cNvPr>
          <p:cNvSpPr txBox="1"/>
          <p:nvPr/>
        </p:nvSpPr>
        <p:spPr>
          <a:xfrm>
            <a:off x="9588266" y="3429000"/>
            <a:ext cx="8318734" cy="68788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377190"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Initial dataset</a:t>
            </a:r>
            <a:r>
              <a:rPr lang="en-US" sz="2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2783 seedling records</a:t>
            </a:r>
          </a:p>
          <a:p>
            <a:pPr marL="285750" indent="-377190"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Challenge</a:t>
            </a:r>
            <a:r>
              <a:rPr lang="en-US" sz="2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Severe missing data (EMF: 54% missing, Alive/Harvest: &gt;75% missing)</a:t>
            </a:r>
          </a:p>
          <a:p>
            <a:pPr marL="285750" indent="-377190"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Solution</a:t>
            </a:r>
            <a:r>
              <a:rPr lang="en-US" sz="2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Dropped unrecoverable columns to maintain data integrity</a:t>
            </a:r>
          </a:p>
          <a:p>
            <a:pPr marL="285750" indent="-377190"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Key Distributions</a:t>
            </a:r>
            <a:r>
              <a:rPr lang="en-US" sz="2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</a:p>
          <a:p>
            <a:pPr marL="285750" lvl="4" indent="-377190"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   High mortality rate (Event = 1 dominates).</a:t>
            </a:r>
          </a:p>
          <a:p>
            <a:pPr marL="285750" indent="-377190"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    Strong species imbalance (Acer saccharum   &amp; Quercus rubra most frequent).</a:t>
            </a:r>
          </a:p>
          <a:p>
            <a:pPr marL="285750" indent="-377190">
              <a:spcBef>
                <a:spcPts val="6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Removed the </a:t>
            </a:r>
            <a:r>
              <a:rPr lang="en-US" sz="280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CENSUS</a:t>
            </a:r>
            <a:r>
              <a:rPr lang="en-US" sz="2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column to prevent critical data leakage</a:t>
            </a:r>
          </a:p>
          <a:p>
            <a:pPr>
              <a:spcBef>
                <a:spcPts val="600"/>
              </a:spcBef>
            </a:pPr>
            <a:endParaRPr lang="en-US" sz="2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2E00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" name="Google Shape;209;p19"/>
          <p:cNvCxnSpPr/>
          <p:nvPr/>
        </p:nvCxnSpPr>
        <p:spPr>
          <a:xfrm rot="10800000" flipH="1">
            <a:off x="4406104" y="8912532"/>
            <a:ext cx="12853196" cy="19050"/>
          </a:xfrm>
          <a:prstGeom prst="straightConnector1">
            <a:avLst/>
          </a:prstGeom>
          <a:noFill/>
          <a:ln w="28575" cap="flat" cmpd="sng">
            <a:solidFill>
              <a:srgbClr val="FE2E00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11" name="Google Shape;211;p19"/>
          <p:cNvGrpSpPr/>
          <p:nvPr/>
        </p:nvGrpSpPr>
        <p:grpSpPr>
          <a:xfrm>
            <a:off x="1011618" y="3558464"/>
            <a:ext cx="5102776" cy="4014045"/>
            <a:chOff x="0" y="-47625"/>
            <a:chExt cx="2304237" cy="1812604"/>
          </a:xfrm>
        </p:grpSpPr>
        <p:sp>
          <p:nvSpPr>
            <p:cNvPr id="212" name="Google Shape;212;p19"/>
            <p:cNvSpPr/>
            <p:nvPr/>
          </p:nvSpPr>
          <p:spPr>
            <a:xfrm>
              <a:off x="0" y="0"/>
              <a:ext cx="2304237" cy="1764979"/>
            </a:xfrm>
            <a:custGeom>
              <a:avLst/>
              <a:gdLst/>
              <a:ahLst/>
              <a:cxnLst/>
              <a:rect l="l" t="t" r="r" b="b"/>
              <a:pathLst>
                <a:path w="2304237" h="1764979" extrusionOk="0">
                  <a:moveTo>
                    <a:pt x="0" y="0"/>
                  </a:moveTo>
                  <a:lnTo>
                    <a:pt x="2304237" y="0"/>
                  </a:lnTo>
                  <a:lnTo>
                    <a:pt x="2304237" y="1764979"/>
                  </a:lnTo>
                  <a:lnTo>
                    <a:pt x="0" y="17649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FFFF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3" name="Google Shape;213;p19"/>
            <p:cNvSpPr txBox="1"/>
            <p:nvPr/>
          </p:nvSpPr>
          <p:spPr>
            <a:xfrm>
              <a:off x="0" y="-47625"/>
              <a:ext cx="2304237" cy="18126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19"/>
          <p:cNvGrpSpPr/>
          <p:nvPr/>
        </p:nvGrpSpPr>
        <p:grpSpPr>
          <a:xfrm>
            <a:off x="6594682" y="3439150"/>
            <a:ext cx="5102776" cy="4014045"/>
            <a:chOff x="0" y="-47625"/>
            <a:chExt cx="2304237" cy="1812604"/>
          </a:xfrm>
        </p:grpSpPr>
        <p:sp>
          <p:nvSpPr>
            <p:cNvPr id="215" name="Google Shape;215;p19"/>
            <p:cNvSpPr/>
            <p:nvPr/>
          </p:nvSpPr>
          <p:spPr>
            <a:xfrm>
              <a:off x="0" y="0"/>
              <a:ext cx="2304237" cy="1764979"/>
            </a:xfrm>
            <a:custGeom>
              <a:avLst/>
              <a:gdLst/>
              <a:ahLst/>
              <a:cxnLst/>
              <a:rect l="l" t="t" r="r" b="b"/>
              <a:pathLst>
                <a:path w="2304237" h="1764979" extrusionOk="0">
                  <a:moveTo>
                    <a:pt x="0" y="0"/>
                  </a:moveTo>
                  <a:lnTo>
                    <a:pt x="2304237" y="0"/>
                  </a:lnTo>
                  <a:lnTo>
                    <a:pt x="2304237" y="1764979"/>
                  </a:lnTo>
                  <a:lnTo>
                    <a:pt x="0" y="17649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E2E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6" name="Google Shape;216;p19"/>
            <p:cNvSpPr txBox="1"/>
            <p:nvPr/>
          </p:nvSpPr>
          <p:spPr>
            <a:xfrm>
              <a:off x="0" y="-47625"/>
              <a:ext cx="2304237" cy="18126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7" name="Google Shape;217;p19"/>
          <p:cNvGrpSpPr/>
          <p:nvPr/>
        </p:nvGrpSpPr>
        <p:grpSpPr>
          <a:xfrm>
            <a:off x="12173606" y="3558464"/>
            <a:ext cx="5102776" cy="4014045"/>
            <a:chOff x="0" y="-47625"/>
            <a:chExt cx="2304237" cy="1812604"/>
          </a:xfrm>
        </p:grpSpPr>
        <p:sp>
          <p:nvSpPr>
            <p:cNvPr id="218" name="Google Shape;218;p19"/>
            <p:cNvSpPr/>
            <p:nvPr/>
          </p:nvSpPr>
          <p:spPr>
            <a:xfrm>
              <a:off x="0" y="0"/>
              <a:ext cx="2304237" cy="1764979"/>
            </a:xfrm>
            <a:custGeom>
              <a:avLst/>
              <a:gdLst/>
              <a:ahLst/>
              <a:cxnLst/>
              <a:rect l="l" t="t" r="r" b="b"/>
              <a:pathLst>
                <a:path w="2304237" h="1764979" extrusionOk="0">
                  <a:moveTo>
                    <a:pt x="0" y="0"/>
                  </a:moveTo>
                  <a:lnTo>
                    <a:pt x="2304237" y="0"/>
                  </a:lnTo>
                  <a:lnTo>
                    <a:pt x="2304237" y="1764979"/>
                  </a:lnTo>
                  <a:lnTo>
                    <a:pt x="0" y="17649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FFFF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9" name="Google Shape;219;p19"/>
            <p:cNvSpPr txBox="1"/>
            <p:nvPr/>
          </p:nvSpPr>
          <p:spPr>
            <a:xfrm>
              <a:off x="0" y="-47625"/>
              <a:ext cx="2304237" cy="181260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9438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20" name="Google Shape;220;p19"/>
          <p:cNvSpPr txBox="1"/>
          <p:nvPr/>
        </p:nvSpPr>
        <p:spPr>
          <a:xfrm>
            <a:off x="1520446" y="4286830"/>
            <a:ext cx="41178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The Baseline</a:t>
            </a: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221" name="Google Shape;221;p19"/>
          <p:cNvSpPr txBox="1"/>
          <p:nvPr/>
        </p:nvSpPr>
        <p:spPr>
          <a:xfrm>
            <a:off x="6519000" y="4286830"/>
            <a:ext cx="5250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600" dirty="0">
                <a:solidFill>
                  <a:schemeClr val="bg1"/>
                </a:solidFill>
              </a:rPr>
              <a:t>Testing Assumptions</a:t>
            </a:r>
            <a:endParaRPr sz="3600" dirty="0">
              <a:solidFill>
                <a:schemeClr val="bg1"/>
              </a:solidFill>
            </a:endParaRPr>
          </a:p>
        </p:txBody>
      </p:sp>
      <p:sp>
        <p:nvSpPr>
          <p:cNvPr id="222" name="Google Shape;222;p19"/>
          <p:cNvSpPr txBox="1"/>
          <p:nvPr/>
        </p:nvSpPr>
        <p:spPr>
          <a:xfrm>
            <a:off x="12429981" y="4237324"/>
            <a:ext cx="4590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3600" dirty="0">
                <a:solidFill>
                  <a:schemeClr val="bg1"/>
                </a:solidFill>
              </a:rPr>
              <a:t>The Surprise Finding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23" name="Google Shape;223;p19"/>
          <p:cNvSpPr txBox="1"/>
          <p:nvPr/>
        </p:nvSpPr>
        <p:spPr>
          <a:xfrm>
            <a:off x="2125996" y="5143500"/>
            <a:ext cx="2906700" cy="2215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07"/>
              </a:lnSpc>
            </a:pPr>
            <a:r>
              <a:rPr lang="en-US" sz="2400" dirty="0">
                <a:solidFill>
                  <a:schemeClr val="bg1"/>
                </a:solidFill>
              </a:rPr>
              <a:t>Kaplan-Meier curve shows the overall probability of seedling survival dropping over time.</a:t>
            </a:r>
            <a:endParaRPr sz="2400" dirty="0">
              <a:solidFill>
                <a:schemeClr val="bg1"/>
              </a:solidFill>
            </a:endParaRPr>
          </a:p>
        </p:txBody>
      </p:sp>
      <p:sp>
        <p:nvSpPr>
          <p:cNvPr id="224" name="Google Shape;224;p19"/>
          <p:cNvSpPr txBox="1"/>
          <p:nvPr/>
        </p:nvSpPr>
        <p:spPr>
          <a:xfrm>
            <a:off x="7423800" y="5156005"/>
            <a:ext cx="3440400" cy="1772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07"/>
              </a:lnSpc>
            </a:pPr>
            <a:r>
              <a:rPr lang="en-US" sz="2400" dirty="0">
                <a:solidFill>
                  <a:schemeClr val="bg1"/>
                </a:solidFill>
              </a:rPr>
              <a:t>Applied the Log-Rank test to compare survival across Light Categories (Low, Medium, High).</a:t>
            </a:r>
            <a:endParaRPr sz="2400" dirty="0">
              <a:solidFill>
                <a:schemeClr val="bg1"/>
              </a:solidFill>
            </a:endParaRPr>
          </a:p>
        </p:txBody>
      </p:sp>
      <p:sp>
        <p:nvSpPr>
          <p:cNvPr id="225" name="Google Shape;225;p19"/>
          <p:cNvSpPr txBox="1"/>
          <p:nvPr/>
        </p:nvSpPr>
        <p:spPr>
          <a:xfrm>
            <a:off x="12687081" y="5143500"/>
            <a:ext cx="4075800" cy="20306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99" b="0" i="0" u="none" strike="noStrike" cap="none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No statistically significant difference in survival distributions based solely on light (p &gt; 0.05 for all comparisons).</a:t>
            </a:r>
            <a:endParaRPr sz="800" dirty="0"/>
          </a:p>
        </p:txBody>
      </p:sp>
      <p:sp>
        <p:nvSpPr>
          <p:cNvPr id="226" name="Google Shape;226;p19"/>
          <p:cNvSpPr txBox="1"/>
          <p:nvPr/>
        </p:nvSpPr>
        <p:spPr>
          <a:xfrm>
            <a:off x="1028700" y="777400"/>
            <a:ext cx="162306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600" b="0" i="0" u="none" strike="noStrike" cap="none" dirty="0">
                <a:solidFill>
                  <a:srgbClr val="FFFFFF"/>
                </a:solidFill>
                <a:latin typeface="Lora"/>
                <a:ea typeface="Lora"/>
                <a:cs typeface="Lora"/>
                <a:sym typeface="Lora"/>
              </a:rPr>
              <a:t>Baseline Survival &amp; Group Comparisons</a:t>
            </a:r>
            <a:endParaRPr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0000"/>
            </a:gs>
            <a:gs pos="100000">
              <a:srgbClr val="2E2E2E"/>
            </a:gs>
          </a:gsLst>
          <a:lin ang="0" scaled="0"/>
        </a:grad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4"/>
          <p:cNvSpPr txBox="1"/>
          <p:nvPr/>
        </p:nvSpPr>
        <p:spPr>
          <a:xfrm>
            <a:off x="419100" y="664907"/>
            <a:ext cx="17449800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6000" b="1" dirty="0">
                <a:solidFill>
                  <a:schemeClr val="bg1"/>
                </a:solidFill>
              </a:rPr>
              <a:t>Multivariate Analysis: Cox Proportional Hazards</a:t>
            </a:r>
            <a:endParaRPr sz="6000" b="1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CA9908-A856-3CD9-9B1C-14E30B3F85E0}"/>
              </a:ext>
            </a:extLst>
          </p:cNvPr>
          <p:cNvSpPr txBox="1"/>
          <p:nvPr/>
        </p:nvSpPr>
        <p:spPr>
          <a:xfrm>
            <a:off x="857250" y="2038350"/>
            <a:ext cx="8058150" cy="71220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Significant Protective Factors</a:t>
            </a:r>
            <a:r>
              <a:rPr lang="en-US" sz="2800" dirty="0">
                <a:solidFill>
                  <a:schemeClr val="bg1"/>
                </a:solidFill>
              </a:rPr>
              <a:t>: Physiological traits (</a:t>
            </a:r>
            <a:r>
              <a:rPr lang="en-US" sz="2800" i="1" dirty="0">
                <a:solidFill>
                  <a:schemeClr val="bg1"/>
                </a:solidFill>
              </a:rPr>
              <a:t>Phenolics</a:t>
            </a:r>
            <a:r>
              <a:rPr lang="en-US" sz="2800" dirty="0">
                <a:solidFill>
                  <a:schemeClr val="bg1"/>
                </a:solidFill>
              </a:rPr>
              <a:t>) reduced the hazard by 18% per unit (HR 0.82).</a:t>
            </a:r>
          </a:p>
          <a:p>
            <a:pPr>
              <a:lnSpc>
                <a:spcPct val="150000"/>
              </a:lnSpc>
              <a:buClr>
                <a:schemeClr val="bg1"/>
              </a:buClr>
            </a:pPr>
            <a:endParaRPr lang="en-US" sz="2800" dirty="0">
              <a:solidFill>
                <a:schemeClr val="bg1"/>
              </a:solidFill>
            </a:endParaRPr>
          </a:p>
          <a:p>
            <a:pPr marL="457200" indent="-45720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Fungal Symbiosis</a:t>
            </a:r>
            <a:r>
              <a:rPr lang="en-US" sz="2800" dirty="0">
                <a:solidFill>
                  <a:schemeClr val="bg1"/>
                </a:solidFill>
              </a:rPr>
              <a:t>: Mycorrhizal association (</a:t>
            </a:r>
            <a:r>
              <a:rPr lang="en-US" sz="2800" i="1" dirty="0" err="1">
                <a:solidFill>
                  <a:schemeClr val="bg1"/>
                </a:solidFill>
              </a:rPr>
              <a:t>Myco_EMF</a:t>
            </a:r>
            <a:r>
              <a:rPr lang="en-US" sz="2800" dirty="0">
                <a:solidFill>
                  <a:schemeClr val="bg1"/>
                </a:solidFill>
              </a:rPr>
              <a:t>) decreased the hazard of death by 53% (HR 0.47).</a:t>
            </a:r>
          </a:p>
          <a:p>
            <a:pPr>
              <a:lnSpc>
                <a:spcPct val="150000"/>
              </a:lnSpc>
              <a:buClr>
                <a:schemeClr val="bg1"/>
              </a:buClr>
            </a:pPr>
            <a:endParaRPr lang="en-US" sz="2800" dirty="0">
              <a:solidFill>
                <a:schemeClr val="bg1"/>
              </a:solidFill>
            </a:endParaRPr>
          </a:p>
          <a:p>
            <a:pPr marL="457200" indent="-45720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Optimal Timing</a:t>
            </a:r>
            <a:r>
              <a:rPr lang="en-US" sz="2800" dirty="0">
                <a:solidFill>
                  <a:schemeClr val="bg1"/>
                </a:solidFill>
              </a:rPr>
              <a:t>: Early planting in late May (</a:t>
            </a:r>
            <a:r>
              <a:rPr lang="en-US" sz="2800" i="1" dirty="0">
                <a:solidFill>
                  <a:schemeClr val="bg1"/>
                </a:solidFill>
              </a:rPr>
              <a:t>PlantDate_5/25/18</a:t>
            </a:r>
            <a:r>
              <a:rPr lang="en-US" sz="2800" dirty="0">
                <a:solidFill>
                  <a:schemeClr val="bg1"/>
                </a:solidFill>
              </a:rPr>
              <a:t>) showed a 48% lower hazard (HR 0.52)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1F63FC-D983-E45E-9C33-67208C0BCA63}"/>
              </a:ext>
            </a:extLst>
          </p:cNvPr>
          <p:cNvSpPr txBox="1"/>
          <p:nvPr/>
        </p:nvSpPr>
        <p:spPr>
          <a:xfrm>
            <a:off x="9144000" y="3467100"/>
            <a:ext cx="8058150" cy="453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Major Risk Factors</a:t>
            </a:r>
            <a:r>
              <a:rPr lang="en-US" sz="2800" dirty="0">
                <a:solidFill>
                  <a:schemeClr val="bg1"/>
                </a:solidFill>
              </a:rPr>
              <a:t>: Late planting in mid-June (</a:t>
            </a:r>
            <a:r>
              <a:rPr lang="en-US" sz="2800" i="1" dirty="0">
                <a:solidFill>
                  <a:schemeClr val="bg1"/>
                </a:solidFill>
              </a:rPr>
              <a:t>PlantDate_6/12/18</a:t>
            </a:r>
            <a:r>
              <a:rPr lang="en-US" sz="2800" dirty="0">
                <a:solidFill>
                  <a:schemeClr val="bg1"/>
                </a:solidFill>
              </a:rPr>
              <a:t>) drastically increased the hazard by nearly 5 times (HR 4.96)</a:t>
            </a:r>
          </a:p>
          <a:p>
            <a:pPr>
              <a:lnSpc>
                <a:spcPct val="150000"/>
              </a:lnSpc>
              <a:buClr>
                <a:schemeClr val="bg1"/>
              </a:buClr>
            </a:pPr>
            <a:endParaRPr lang="en-US" sz="2800" dirty="0">
              <a:solidFill>
                <a:schemeClr val="bg1"/>
              </a:solidFill>
            </a:endParaRPr>
          </a:p>
          <a:p>
            <a:pPr marL="457200" indent="-457200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sz="2800" b="1" dirty="0">
                <a:solidFill>
                  <a:schemeClr val="bg1"/>
                </a:solidFill>
              </a:rPr>
              <a:t>Environmental Competition</a:t>
            </a:r>
            <a:r>
              <a:rPr lang="en-US" sz="2800" dirty="0">
                <a:solidFill>
                  <a:schemeClr val="bg1"/>
                </a:solidFill>
              </a:rPr>
              <a:t>: Proximity to certain adult trees (</a:t>
            </a:r>
            <a:r>
              <a:rPr lang="en-US" sz="2800" i="1" dirty="0">
                <a:solidFill>
                  <a:schemeClr val="bg1"/>
                </a:solidFill>
              </a:rPr>
              <a:t>Adult_1201 &amp; </a:t>
            </a:r>
            <a:r>
              <a:rPr lang="en-US" sz="2800" i="1" dirty="0" err="1">
                <a:solidFill>
                  <a:schemeClr val="bg1"/>
                </a:solidFill>
              </a:rPr>
              <a:t>Adult_G</a:t>
            </a:r>
            <a:r>
              <a:rPr lang="en-US" sz="2800" dirty="0">
                <a:solidFill>
                  <a:schemeClr val="bg1"/>
                </a:solidFill>
              </a:rPr>
              <a:t>) increased risk by up to 63%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2E00"/>
        </a:solidFill>
        <a:effectLst/>
      </p:bgPr>
    </p:bg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22"/>
          <p:cNvSpPr txBox="1"/>
          <p:nvPr/>
        </p:nvSpPr>
        <p:spPr>
          <a:xfrm>
            <a:off x="5945400" y="3652322"/>
            <a:ext cx="6397200" cy="2982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600" b="0" i="0" u="none" strike="noStrike" cap="none" dirty="0">
                <a:solidFill>
                  <a:srgbClr val="FFFFFF"/>
                </a:solidFill>
                <a:latin typeface="Lora"/>
                <a:ea typeface="Lora"/>
                <a:cs typeface="Lora"/>
                <a:sym typeface="Lora"/>
              </a:rPr>
              <a:t>Model Evaluation &amp; Final Insights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D01AFD-52EE-AB1F-6B0F-FAF29CEB88EF}"/>
              </a:ext>
            </a:extLst>
          </p:cNvPr>
          <p:cNvSpPr txBox="1"/>
          <p:nvPr/>
        </p:nvSpPr>
        <p:spPr>
          <a:xfrm>
            <a:off x="1352550" y="762000"/>
            <a:ext cx="4038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Baseline Performance</a:t>
            </a:r>
            <a:r>
              <a:rPr lang="en-US" sz="2400" dirty="0">
                <a:solidFill>
                  <a:schemeClr val="bg1"/>
                </a:solidFill>
              </a:rPr>
              <a:t>: </a:t>
            </a:r>
            <a:r>
              <a:rPr lang="en-US" sz="2400" dirty="0" err="1">
                <a:solidFill>
                  <a:schemeClr val="bg1"/>
                </a:solidFill>
              </a:rPr>
              <a:t>CoxPH</a:t>
            </a:r>
            <a:r>
              <a:rPr lang="en-US" sz="2400" dirty="0">
                <a:solidFill>
                  <a:schemeClr val="bg1"/>
                </a:solidFill>
              </a:rPr>
              <a:t> achieved a Test C-Index of 0.7710</a:t>
            </a:r>
          </a:p>
        </p:txBody>
      </p:sp>
      <p:cxnSp>
        <p:nvCxnSpPr>
          <p:cNvPr id="5" name="Curved Connector 4">
            <a:extLst>
              <a:ext uri="{FF2B5EF4-FFF2-40B4-BE49-F238E27FC236}">
                <a16:creationId xmlns:a16="http://schemas.microsoft.com/office/drawing/2014/main" id="{ADDC2F63-97DA-2396-3611-5EF4EDD5DFCE}"/>
              </a:ext>
            </a:extLst>
          </p:cNvPr>
          <p:cNvCxnSpPr>
            <a:cxnSpLocks/>
          </p:cNvCxnSpPr>
          <p:nvPr/>
        </p:nvCxnSpPr>
        <p:spPr>
          <a:xfrm rot="10800000">
            <a:off x="4133850" y="1771649"/>
            <a:ext cx="1811550" cy="3371850"/>
          </a:xfrm>
          <a:prstGeom prst="curved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8CA20F7-3841-93AE-42A1-A95101E57E62}"/>
              </a:ext>
            </a:extLst>
          </p:cNvPr>
          <p:cNvSpPr txBox="1"/>
          <p:nvPr/>
        </p:nvSpPr>
        <p:spPr>
          <a:xfrm>
            <a:off x="4133849" y="7024173"/>
            <a:ext cx="9144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solidFill>
                  <a:schemeClr val="bg1"/>
                </a:solidFill>
              </a:rPr>
              <a:t>Advice for the Forestry Expert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5BD045-E4BD-84CC-AFF8-DAEAE937194D}"/>
              </a:ext>
            </a:extLst>
          </p:cNvPr>
          <p:cNvSpPr txBox="1"/>
          <p:nvPr/>
        </p:nvSpPr>
        <p:spPr>
          <a:xfrm>
            <a:off x="1352550" y="8161408"/>
            <a:ext cx="365760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Plant exclusively in the late May window.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5095D5-F0A5-0138-8E6E-76D90821B434}"/>
              </a:ext>
            </a:extLst>
          </p:cNvPr>
          <p:cNvSpPr txBox="1"/>
          <p:nvPr/>
        </p:nvSpPr>
        <p:spPr>
          <a:xfrm>
            <a:off x="6705600" y="8161408"/>
            <a:ext cx="447675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Inoculate soil with EMF mycorrhizal fungi prior to planting.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E78B7A-A19C-67F4-73E9-4C7E8EA57A9A}"/>
              </a:ext>
            </a:extLst>
          </p:cNvPr>
          <p:cNvSpPr txBox="1"/>
          <p:nvPr/>
        </p:nvSpPr>
        <p:spPr>
          <a:xfrm>
            <a:off x="12877800" y="8161408"/>
            <a:ext cx="405765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Maintain clearance from competing adult tree root systems.</a:t>
            </a:r>
            <a:endParaRPr lang="en-US" sz="2000" dirty="0"/>
          </a:p>
        </p:txBody>
      </p: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893B68DB-498B-6DF1-27AF-0EFEBF93624C}"/>
              </a:ext>
            </a:extLst>
          </p:cNvPr>
          <p:cNvCxnSpPr>
            <a:stCxn id="9" idx="2"/>
            <a:endCxn id="11" idx="0"/>
          </p:cNvCxnSpPr>
          <p:nvPr/>
        </p:nvCxnSpPr>
        <p:spPr>
          <a:xfrm rot="5400000">
            <a:off x="5605815" y="5061374"/>
            <a:ext cx="675570" cy="5524498"/>
          </a:xfrm>
          <a:prstGeom prst="curvedConnector3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0CE4F47C-B930-FB5D-0D46-4B174BB98314}"/>
              </a:ext>
            </a:extLst>
          </p:cNvPr>
          <p:cNvCxnSpPr>
            <a:stCxn id="9" idx="2"/>
            <a:endCxn id="14" idx="0"/>
          </p:cNvCxnSpPr>
          <p:nvPr/>
        </p:nvCxnSpPr>
        <p:spPr>
          <a:xfrm rot="16200000" flipH="1">
            <a:off x="8487127" y="7704559"/>
            <a:ext cx="675570" cy="238127"/>
          </a:xfrm>
          <a:prstGeom prst="curvedConnector3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id="{0D3A0887-D6C5-DE18-C3EC-236994EB1647}"/>
              </a:ext>
            </a:extLst>
          </p:cNvPr>
          <p:cNvCxnSpPr>
            <a:stCxn id="9" idx="2"/>
            <a:endCxn id="16" idx="0"/>
          </p:cNvCxnSpPr>
          <p:nvPr/>
        </p:nvCxnSpPr>
        <p:spPr>
          <a:xfrm rot="16200000" flipH="1">
            <a:off x="11468452" y="4723235"/>
            <a:ext cx="675570" cy="6200776"/>
          </a:xfrm>
          <a:prstGeom prst="curvedConnector3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1" name="Google Shape;231;p20"/>
          <p:cNvGrpSpPr/>
          <p:nvPr/>
        </p:nvGrpSpPr>
        <p:grpSpPr>
          <a:xfrm>
            <a:off x="1028700" y="8566765"/>
            <a:ext cx="2881846" cy="691535"/>
            <a:chOff x="0" y="0"/>
            <a:chExt cx="3842461" cy="922047"/>
          </a:xfrm>
        </p:grpSpPr>
        <p:sp>
          <p:nvSpPr>
            <p:cNvPr id="232" name="Google Shape;232;p20"/>
            <p:cNvSpPr/>
            <p:nvPr/>
          </p:nvSpPr>
          <p:spPr>
            <a:xfrm>
              <a:off x="0" y="0"/>
              <a:ext cx="922047" cy="922047"/>
            </a:xfrm>
            <a:custGeom>
              <a:avLst/>
              <a:gdLst/>
              <a:ahLst/>
              <a:cxnLst/>
              <a:rect l="l" t="t" r="r" b="b"/>
              <a:pathLst>
                <a:path w="922047" h="922047" extrusionOk="0">
                  <a:moveTo>
                    <a:pt x="0" y="0"/>
                  </a:moveTo>
                  <a:lnTo>
                    <a:pt x="922047" y="0"/>
                  </a:lnTo>
                  <a:lnTo>
                    <a:pt x="922047" y="922047"/>
                  </a:lnTo>
                  <a:lnTo>
                    <a:pt x="0" y="92204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3" name="Google Shape;233;p20"/>
            <p:cNvSpPr txBox="1"/>
            <p:nvPr/>
          </p:nvSpPr>
          <p:spPr>
            <a:xfrm>
              <a:off x="1112744" y="99554"/>
              <a:ext cx="2729717" cy="7705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96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CIRCUIT INNOVATION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96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SYSTEMS CO.</a:t>
              </a:r>
              <a:endParaRPr/>
            </a:p>
          </p:txBody>
        </p:sp>
      </p:grpSp>
      <p:cxnSp>
        <p:nvCxnSpPr>
          <p:cNvPr id="234" name="Google Shape;234;p20"/>
          <p:cNvCxnSpPr/>
          <p:nvPr/>
        </p:nvCxnSpPr>
        <p:spPr>
          <a:xfrm rot="10800000" flipH="1">
            <a:off x="4406083" y="8903007"/>
            <a:ext cx="12853196" cy="19050"/>
          </a:xfrm>
          <a:prstGeom prst="straightConnector1">
            <a:avLst/>
          </a:prstGeom>
          <a:noFill/>
          <a:ln w="28575" cap="flat" cmpd="sng">
            <a:solidFill>
              <a:srgbClr val="E6E6E6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5" name="Google Shape;235;p20"/>
          <p:cNvSpPr txBox="1"/>
          <p:nvPr/>
        </p:nvSpPr>
        <p:spPr>
          <a:xfrm>
            <a:off x="1028700" y="1162050"/>
            <a:ext cx="16230600" cy="1021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600" b="0" i="0" u="none" strike="noStrike" cap="none">
                <a:solidFill>
                  <a:srgbClr val="000000"/>
                </a:solidFill>
                <a:latin typeface="Lora"/>
                <a:ea typeface="Lora"/>
                <a:cs typeface="Lora"/>
                <a:sym typeface="Lora"/>
              </a:rPr>
              <a:t>TYPES OF CLOUD COMPUTING</a:t>
            </a:r>
            <a:endParaRPr/>
          </a:p>
        </p:txBody>
      </p:sp>
      <p:graphicFrame>
        <p:nvGraphicFramePr>
          <p:cNvPr id="236" name="Google Shape;236;p20"/>
          <p:cNvGraphicFramePr/>
          <p:nvPr/>
        </p:nvGraphicFramePr>
        <p:xfrm>
          <a:off x="1038225" y="2723134"/>
          <a:ext cx="16211600" cy="5304350"/>
        </p:xfrm>
        <a:graphic>
          <a:graphicData uri="http://schemas.openxmlformats.org/drawingml/2006/table">
            <a:tbl>
              <a:tblPr>
                <a:noFill/>
                <a:tableStyleId>{3D0708EE-9D19-4114-B6EC-E3F537DC773B}</a:tableStyleId>
              </a:tblPr>
              <a:tblGrid>
                <a:gridCol w="4052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52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2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52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9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3053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b="1" u="none" strike="noStrike" cap="none">
                          <a:solidFill>
                            <a:srgbClr val="E6E6E6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PUBLIC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b="1" u="none" strike="noStrike" cap="none">
                          <a:solidFill>
                            <a:srgbClr val="E6E6E6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PRIVATE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b="1" u="none" strike="noStrike" cap="none">
                          <a:solidFill>
                            <a:srgbClr val="E6E6E6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HYBRID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81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b="1" u="none" strike="noStrike" cap="non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DESCRIPTION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i="1" u="none" strike="noStrike" cap="non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Briefly explain what a public cloud is. 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i="1" u="none" strike="noStrike" cap="non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Briefly explain what a private cloud is. 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i="1" u="none" strike="noStrike" cap="non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Briefly explain what a hybrid cloud is. 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81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b="1" u="none" strike="noStrike" cap="non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BENEFITS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i="1" u="none" strike="noStrike" cap="non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List key advantages here.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i="1" u="none" strike="noStrike" cap="non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List key advantages here.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i="1" u="none" strike="noStrike" cap="non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List key advantages here.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781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b="1" u="none" strike="noStrike" cap="non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DRAWBACKS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i="1" u="none" strike="noStrike" cap="non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Mention common concerns or limitations here.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i="1" u="none" strike="noStrike" cap="non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Mention common concerns or limitations here.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399" i="1" u="none" strike="noStrike" cap="none">
                          <a:solidFill>
                            <a:srgbClr val="000000"/>
                          </a:solidFill>
                          <a:latin typeface="Open Sans"/>
                          <a:ea typeface="Open Sans"/>
                          <a:cs typeface="Open Sans"/>
                          <a:sym typeface="Open Sans"/>
                        </a:rPr>
                        <a:t>Mention common concerns or limitations here.</a:t>
                      </a:r>
                      <a:endParaRPr sz="1100" u="none" strike="noStrike" cap="none"/>
                    </a:p>
                  </a:txBody>
                  <a:tcPr marL="171450" marR="171450" marT="171450" marB="171450" anchor="ctr">
                    <a:lnL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0000"/>
            </a:gs>
            <a:gs pos="100000">
              <a:srgbClr val="2E2E2E"/>
            </a:gs>
          </a:gsLst>
          <a:lin ang="0" scaled="0"/>
        </a:gra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1" name="Google Shape;241;p21"/>
          <p:cNvGrpSpPr/>
          <p:nvPr/>
        </p:nvGrpSpPr>
        <p:grpSpPr>
          <a:xfrm>
            <a:off x="1028700" y="8566765"/>
            <a:ext cx="2881846" cy="691535"/>
            <a:chOff x="0" y="0"/>
            <a:chExt cx="3842461" cy="922047"/>
          </a:xfrm>
        </p:grpSpPr>
        <p:sp>
          <p:nvSpPr>
            <p:cNvPr id="242" name="Google Shape;242;p21"/>
            <p:cNvSpPr/>
            <p:nvPr/>
          </p:nvSpPr>
          <p:spPr>
            <a:xfrm>
              <a:off x="0" y="0"/>
              <a:ext cx="922047" cy="922047"/>
            </a:xfrm>
            <a:custGeom>
              <a:avLst/>
              <a:gdLst/>
              <a:ahLst/>
              <a:cxnLst/>
              <a:rect l="l" t="t" r="r" b="b"/>
              <a:pathLst>
                <a:path w="922047" h="922047" extrusionOk="0">
                  <a:moveTo>
                    <a:pt x="0" y="0"/>
                  </a:moveTo>
                  <a:lnTo>
                    <a:pt x="922047" y="0"/>
                  </a:lnTo>
                  <a:lnTo>
                    <a:pt x="922047" y="922047"/>
                  </a:lnTo>
                  <a:lnTo>
                    <a:pt x="0" y="92204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3" name="Google Shape;243;p21"/>
            <p:cNvSpPr txBox="1"/>
            <p:nvPr/>
          </p:nvSpPr>
          <p:spPr>
            <a:xfrm>
              <a:off x="1112744" y="99554"/>
              <a:ext cx="2729717" cy="7705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96" b="0" i="0" u="none" strike="noStrike" cap="none">
                  <a:solidFill>
                    <a:srgbClr val="FFFDFC"/>
                  </a:solidFill>
                  <a:latin typeface="Open Sans"/>
                  <a:ea typeface="Open Sans"/>
                  <a:cs typeface="Open Sans"/>
                  <a:sym typeface="Open Sans"/>
                </a:rPr>
                <a:t>CIRCUIT INNOVATION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96" b="0" i="0" u="none" strike="noStrike" cap="none">
                  <a:solidFill>
                    <a:srgbClr val="FFFDFC"/>
                  </a:solidFill>
                  <a:latin typeface="Open Sans"/>
                  <a:ea typeface="Open Sans"/>
                  <a:cs typeface="Open Sans"/>
                  <a:sym typeface="Open Sans"/>
                </a:rPr>
                <a:t>SYSTEMS CO.</a:t>
              </a:r>
              <a:endParaRPr/>
            </a:p>
          </p:txBody>
        </p:sp>
      </p:grpSp>
      <p:cxnSp>
        <p:nvCxnSpPr>
          <p:cNvPr id="244" name="Google Shape;244;p21"/>
          <p:cNvCxnSpPr/>
          <p:nvPr/>
        </p:nvCxnSpPr>
        <p:spPr>
          <a:xfrm>
            <a:off x="16178786" y="1391002"/>
            <a:ext cx="0" cy="7504996"/>
          </a:xfrm>
          <a:prstGeom prst="straightConnector1">
            <a:avLst/>
          </a:prstGeom>
          <a:noFill/>
          <a:ln w="38100" cap="flat" cmpd="sng">
            <a:solidFill>
              <a:srgbClr val="646464"/>
            </a:solidFill>
            <a:prstDash val="solid"/>
            <a:round/>
            <a:headEnd type="none" w="sm" len="sm"/>
            <a:tailEnd type="stealth" w="med" len="med"/>
          </a:ln>
        </p:spPr>
      </p:cxnSp>
      <p:cxnSp>
        <p:nvCxnSpPr>
          <p:cNvPr id="245" name="Google Shape;245;p21"/>
          <p:cNvCxnSpPr/>
          <p:nvPr/>
        </p:nvCxnSpPr>
        <p:spPr>
          <a:xfrm>
            <a:off x="8600951" y="6225131"/>
            <a:ext cx="4907154" cy="0"/>
          </a:xfrm>
          <a:prstGeom prst="straightConnector1">
            <a:avLst/>
          </a:prstGeom>
          <a:noFill/>
          <a:ln w="46325" cap="flat" cmpd="sng">
            <a:solidFill>
              <a:srgbClr val="646464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46" name="Google Shape;246;p21"/>
          <p:cNvCxnSpPr/>
          <p:nvPr/>
        </p:nvCxnSpPr>
        <p:spPr>
          <a:xfrm>
            <a:off x="9844204" y="4050278"/>
            <a:ext cx="2420648" cy="0"/>
          </a:xfrm>
          <a:prstGeom prst="straightConnector1">
            <a:avLst/>
          </a:prstGeom>
          <a:noFill/>
          <a:ln w="463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247" name="Google Shape;247;p21"/>
          <p:cNvGrpSpPr/>
          <p:nvPr/>
        </p:nvGrpSpPr>
        <p:grpSpPr>
          <a:xfrm>
            <a:off x="7346076" y="1898605"/>
            <a:ext cx="7416904" cy="6489790"/>
            <a:chOff x="0" y="0"/>
            <a:chExt cx="812800" cy="711200"/>
          </a:xfrm>
        </p:grpSpPr>
        <p:sp>
          <p:nvSpPr>
            <p:cNvPr id="248" name="Google Shape;248;p21"/>
            <p:cNvSpPr/>
            <p:nvPr/>
          </p:nvSpPr>
          <p:spPr>
            <a:xfrm>
              <a:off x="0" y="0"/>
              <a:ext cx="812800" cy="711200"/>
            </a:xfrm>
            <a:custGeom>
              <a:avLst/>
              <a:gdLst/>
              <a:ahLst/>
              <a:cxnLst/>
              <a:rect l="l" t="t" r="r" b="b"/>
              <a:pathLst>
                <a:path w="812800" h="711200" extrusionOk="0">
                  <a:moveTo>
                    <a:pt x="406400" y="0"/>
                  </a:moveTo>
                  <a:lnTo>
                    <a:pt x="812800" y="711200"/>
                  </a:lnTo>
                  <a:lnTo>
                    <a:pt x="0" y="711200"/>
                  </a:lnTo>
                  <a:lnTo>
                    <a:pt x="40640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FFFFFF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9" name="Google Shape;249;p21"/>
            <p:cNvSpPr txBox="1"/>
            <p:nvPr/>
          </p:nvSpPr>
          <p:spPr>
            <a:xfrm>
              <a:off x="127000" y="273050"/>
              <a:ext cx="558800" cy="38735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944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0" name="Google Shape;250;p21"/>
          <p:cNvSpPr txBox="1"/>
          <p:nvPr/>
        </p:nvSpPr>
        <p:spPr>
          <a:xfrm>
            <a:off x="7665330" y="2837362"/>
            <a:ext cx="24150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Add common examples here.</a:t>
            </a:r>
            <a:endParaRPr/>
          </a:p>
        </p:txBody>
      </p:sp>
      <p:sp>
        <p:nvSpPr>
          <p:cNvPr id="251" name="Google Shape;251;p21"/>
          <p:cNvSpPr txBox="1"/>
          <p:nvPr/>
        </p:nvSpPr>
        <p:spPr>
          <a:xfrm>
            <a:off x="9863572" y="7338413"/>
            <a:ext cx="23817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Add a brief description</a:t>
            </a:r>
            <a:endParaRPr sz="900"/>
          </a:p>
        </p:txBody>
      </p:sp>
      <p:sp>
        <p:nvSpPr>
          <p:cNvPr id="252" name="Google Shape;252;p21"/>
          <p:cNvSpPr txBox="1"/>
          <p:nvPr/>
        </p:nvSpPr>
        <p:spPr>
          <a:xfrm>
            <a:off x="9863572" y="5179170"/>
            <a:ext cx="23817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Add a brief description</a:t>
            </a:r>
            <a:endParaRPr sz="900"/>
          </a:p>
        </p:txBody>
      </p:sp>
      <p:sp>
        <p:nvSpPr>
          <p:cNvPr id="253" name="Google Shape;253;p21"/>
          <p:cNvSpPr txBox="1"/>
          <p:nvPr/>
        </p:nvSpPr>
        <p:spPr>
          <a:xfrm>
            <a:off x="10385780" y="3263537"/>
            <a:ext cx="13374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Add a brief description</a:t>
            </a:r>
            <a:endParaRPr sz="900"/>
          </a:p>
        </p:txBody>
      </p:sp>
      <p:sp>
        <p:nvSpPr>
          <p:cNvPr id="254" name="Google Shape;254;p21"/>
          <p:cNvSpPr txBox="1"/>
          <p:nvPr/>
        </p:nvSpPr>
        <p:spPr>
          <a:xfrm>
            <a:off x="10035841" y="6920275"/>
            <a:ext cx="20376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99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IaaS</a:t>
            </a:r>
            <a:endParaRPr/>
          </a:p>
        </p:txBody>
      </p:sp>
      <p:sp>
        <p:nvSpPr>
          <p:cNvPr id="255" name="Google Shape;255;p21"/>
          <p:cNvSpPr txBox="1"/>
          <p:nvPr/>
        </p:nvSpPr>
        <p:spPr>
          <a:xfrm>
            <a:off x="10035475" y="4753000"/>
            <a:ext cx="20379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99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PaaS</a:t>
            </a:r>
            <a:endParaRPr/>
          </a:p>
        </p:txBody>
      </p:sp>
      <p:sp>
        <p:nvSpPr>
          <p:cNvPr id="256" name="Google Shape;256;p21"/>
          <p:cNvSpPr txBox="1"/>
          <p:nvPr/>
        </p:nvSpPr>
        <p:spPr>
          <a:xfrm>
            <a:off x="10520774" y="2837350"/>
            <a:ext cx="10674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99" b="1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SaaS</a:t>
            </a:r>
            <a:endParaRPr/>
          </a:p>
        </p:txBody>
      </p:sp>
      <p:sp>
        <p:nvSpPr>
          <p:cNvPr id="257" name="Google Shape;257;p21"/>
          <p:cNvSpPr txBox="1"/>
          <p:nvPr/>
        </p:nvSpPr>
        <p:spPr>
          <a:xfrm>
            <a:off x="12073477" y="2837362"/>
            <a:ext cx="1293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Add users here.</a:t>
            </a:r>
            <a:endParaRPr/>
          </a:p>
        </p:txBody>
      </p:sp>
      <p:sp>
        <p:nvSpPr>
          <p:cNvPr id="258" name="Google Shape;258;p21"/>
          <p:cNvSpPr txBox="1"/>
          <p:nvPr/>
        </p:nvSpPr>
        <p:spPr>
          <a:xfrm>
            <a:off x="13342387" y="5000625"/>
            <a:ext cx="1293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Add users here.</a:t>
            </a:r>
            <a:endParaRPr/>
          </a:p>
        </p:txBody>
      </p:sp>
      <p:sp>
        <p:nvSpPr>
          <p:cNvPr id="259" name="Google Shape;259;p21"/>
          <p:cNvSpPr txBox="1"/>
          <p:nvPr/>
        </p:nvSpPr>
        <p:spPr>
          <a:xfrm>
            <a:off x="14518578" y="7163888"/>
            <a:ext cx="12936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Add users here.</a:t>
            </a:r>
            <a:endParaRPr/>
          </a:p>
        </p:txBody>
      </p:sp>
      <p:sp>
        <p:nvSpPr>
          <p:cNvPr id="260" name="Google Shape;260;p21"/>
          <p:cNvSpPr txBox="1"/>
          <p:nvPr/>
        </p:nvSpPr>
        <p:spPr>
          <a:xfrm>
            <a:off x="6432682" y="5000625"/>
            <a:ext cx="24150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Add common examples here.</a:t>
            </a:r>
            <a:endParaRPr/>
          </a:p>
        </p:txBody>
      </p:sp>
      <p:sp>
        <p:nvSpPr>
          <p:cNvPr id="261" name="Google Shape;261;p21"/>
          <p:cNvSpPr txBox="1"/>
          <p:nvPr/>
        </p:nvSpPr>
        <p:spPr>
          <a:xfrm>
            <a:off x="5215086" y="7163888"/>
            <a:ext cx="2415000" cy="5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99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Add common examples here.</a:t>
            </a:r>
            <a:endParaRPr/>
          </a:p>
        </p:txBody>
      </p:sp>
      <p:sp>
        <p:nvSpPr>
          <p:cNvPr id="262" name="Google Shape;262;p21"/>
          <p:cNvSpPr txBox="1"/>
          <p:nvPr/>
        </p:nvSpPr>
        <p:spPr>
          <a:xfrm>
            <a:off x="1028700" y="1171575"/>
            <a:ext cx="4634303" cy="2967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700" b="0" i="0" u="none" strike="noStrike" cap="none">
                <a:solidFill>
                  <a:srgbClr val="FFFFFF"/>
                </a:solidFill>
                <a:latin typeface="Lora"/>
                <a:ea typeface="Lora"/>
                <a:cs typeface="Lora"/>
                <a:sym typeface="Lora"/>
              </a:rPr>
              <a:t>TYPES OF CLOUD SERVICES</a:t>
            </a:r>
            <a:endParaRPr/>
          </a:p>
        </p:txBody>
      </p:sp>
      <p:sp>
        <p:nvSpPr>
          <p:cNvPr id="263" name="Google Shape;263;p21"/>
          <p:cNvSpPr txBox="1"/>
          <p:nvPr/>
        </p:nvSpPr>
        <p:spPr>
          <a:xfrm>
            <a:off x="14493847" y="1651600"/>
            <a:ext cx="13374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Less control</a:t>
            </a:r>
            <a:endParaRPr/>
          </a:p>
        </p:txBody>
      </p:sp>
      <p:sp>
        <p:nvSpPr>
          <p:cNvPr id="264" name="Google Shape;264;p21"/>
          <p:cNvSpPr txBox="1"/>
          <p:nvPr/>
        </p:nvSpPr>
        <p:spPr>
          <a:xfrm>
            <a:off x="16522919" y="7894675"/>
            <a:ext cx="13947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More</a:t>
            </a:r>
            <a:endParaRPr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Control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E6E6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6" name="Google Shape;276;p23"/>
          <p:cNvGrpSpPr/>
          <p:nvPr/>
        </p:nvGrpSpPr>
        <p:grpSpPr>
          <a:xfrm>
            <a:off x="1028700" y="8566765"/>
            <a:ext cx="2881846" cy="691535"/>
            <a:chOff x="0" y="0"/>
            <a:chExt cx="3842461" cy="922047"/>
          </a:xfrm>
        </p:grpSpPr>
        <p:sp>
          <p:nvSpPr>
            <p:cNvPr id="277" name="Google Shape;277;p23"/>
            <p:cNvSpPr/>
            <p:nvPr/>
          </p:nvSpPr>
          <p:spPr>
            <a:xfrm>
              <a:off x="0" y="0"/>
              <a:ext cx="922047" cy="922047"/>
            </a:xfrm>
            <a:custGeom>
              <a:avLst/>
              <a:gdLst/>
              <a:ahLst/>
              <a:cxnLst/>
              <a:rect l="l" t="t" r="r" b="b"/>
              <a:pathLst>
                <a:path w="922047" h="922047" extrusionOk="0">
                  <a:moveTo>
                    <a:pt x="0" y="0"/>
                  </a:moveTo>
                  <a:lnTo>
                    <a:pt x="922047" y="0"/>
                  </a:lnTo>
                  <a:lnTo>
                    <a:pt x="922047" y="922047"/>
                  </a:lnTo>
                  <a:lnTo>
                    <a:pt x="0" y="92204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8" name="Google Shape;278;p23"/>
            <p:cNvSpPr txBox="1"/>
            <p:nvPr/>
          </p:nvSpPr>
          <p:spPr>
            <a:xfrm>
              <a:off x="1112744" y="99554"/>
              <a:ext cx="2729717" cy="7705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96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CIRCUIT INNOVATION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96" b="0" i="0" u="none" strike="noStrike" cap="non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SYSTEMS CO.</a:t>
              </a:r>
              <a:endParaRPr/>
            </a:p>
          </p:txBody>
        </p:sp>
      </p:grpSp>
      <p:grpSp>
        <p:nvGrpSpPr>
          <p:cNvPr id="279" name="Google Shape;279;p23"/>
          <p:cNvGrpSpPr/>
          <p:nvPr/>
        </p:nvGrpSpPr>
        <p:grpSpPr>
          <a:xfrm>
            <a:off x="11032349" y="1497981"/>
            <a:ext cx="6226951" cy="2184709"/>
            <a:chOff x="0" y="-57150"/>
            <a:chExt cx="1640020" cy="575397"/>
          </a:xfrm>
        </p:grpSpPr>
        <p:sp>
          <p:nvSpPr>
            <p:cNvPr id="280" name="Google Shape;280;p23"/>
            <p:cNvSpPr/>
            <p:nvPr/>
          </p:nvSpPr>
          <p:spPr>
            <a:xfrm>
              <a:off x="0" y="0"/>
              <a:ext cx="1640020" cy="518247"/>
            </a:xfrm>
            <a:custGeom>
              <a:avLst/>
              <a:gdLst/>
              <a:ahLst/>
              <a:cxnLst/>
              <a:rect l="l" t="t" r="r" b="b"/>
              <a:pathLst>
                <a:path w="1640020" h="518247" extrusionOk="0">
                  <a:moveTo>
                    <a:pt x="0" y="0"/>
                  </a:moveTo>
                  <a:lnTo>
                    <a:pt x="1640020" y="0"/>
                  </a:lnTo>
                  <a:lnTo>
                    <a:pt x="1640020" y="518247"/>
                  </a:lnTo>
                  <a:lnTo>
                    <a:pt x="0" y="5182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E6E6E6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1" name="Google Shape;281;p23"/>
            <p:cNvSpPr txBox="1"/>
            <p:nvPr/>
          </p:nvSpPr>
          <p:spPr>
            <a:xfrm>
              <a:off x="0" y="-57150"/>
              <a:ext cx="1640020" cy="5753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3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2" name="Google Shape;282;p23"/>
          <p:cNvGrpSpPr/>
          <p:nvPr/>
        </p:nvGrpSpPr>
        <p:grpSpPr>
          <a:xfrm>
            <a:off x="11032349" y="3942650"/>
            <a:ext cx="6226951" cy="2184709"/>
            <a:chOff x="0" y="-57150"/>
            <a:chExt cx="1640020" cy="575397"/>
          </a:xfrm>
        </p:grpSpPr>
        <p:sp>
          <p:nvSpPr>
            <p:cNvPr id="283" name="Google Shape;283;p23"/>
            <p:cNvSpPr/>
            <p:nvPr/>
          </p:nvSpPr>
          <p:spPr>
            <a:xfrm>
              <a:off x="0" y="0"/>
              <a:ext cx="1640020" cy="518247"/>
            </a:xfrm>
            <a:custGeom>
              <a:avLst/>
              <a:gdLst/>
              <a:ahLst/>
              <a:cxnLst/>
              <a:rect l="l" t="t" r="r" b="b"/>
              <a:pathLst>
                <a:path w="1640020" h="518247" extrusionOk="0">
                  <a:moveTo>
                    <a:pt x="0" y="0"/>
                  </a:moveTo>
                  <a:lnTo>
                    <a:pt x="1640020" y="0"/>
                  </a:lnTo>
                  <a:lnTo>
                    <a:pt x="1640020" y="518247"/>
                  </a:lnTo>
                  <a:lnTo>
                    <a:pt x="0" y="5182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4" name="Google Shape;284;p23"/>
            <p:cNvSpPr txBox="1"/>
            <p:nvPr/>
          </p:nvSpPr>
          <p:spPr>
            <a:xfrm>
              <a:off x="0" y="-57150"/>
              <a:ext cx="1640020" cy="5753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3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5" name="Google Shape;285;p23"/>
          <p:cNvGrpSpPr/>
          <p:nvPr/>
        </p:nvGrpSpPr>
        <p:grpSpPr>
          <a:xfrm>
            <a:off x="11032349" y="6382056"/>
            <a:ext cx="6226951" cy="2184709"/>
            <a:chOff x="0" y="-57150"/>
            <a:chExt cx="1640020" cy="575397"/>
          </a:xfrm>
        </p:grpSpPr>
        <p:sp>
          <p:nvSpPr>
            <p:cNvPr id="286" name="Google Shape;286;p23"/>
            <p:cNvSpPr/>
            <p:nvPr/>
          </p:nvSpPr>
          <p:spPr>
            <a:xfrm>
              <a:off x="0" y="0"/>
              <a:ext cx="1640020" cy="518247"/>
            </a:xfrm>
            <a:custGeom>
              <a:avLst/>
              <a:gdLst/>
              <a:ahLst/>
              <a:cxnLst/>
              <a:rect l="l" t="t" r="r" b="b"/>
              <a:pathLst>
                <a:path w="1640020" h="518247" extrusionOk="0">
                  <a:moveTo>
                    <a:pt x="0" y="0"/>
                  </a:moveTo>
                  <a:lnTo>
                    <a:pt x="1640020" y="0"/>
                  </a:lnTo>
                  <a:lnTo>
                    <a:pt x="1640020" y="518247"/>
                  </a:lnTo>
                  <a:lnTo>
                    <a:pt x="0" y="5182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 cmpd="sng">
              <a:solidFill>
                <a:srgbClr val="E6E6E6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7" name="Google Shape;287;p23"/>
            <p:cNvSpPr txBox="1"/>
            <p:nvPr/>
          </p:nvSpPr>
          <p:spPr>
            <a:xfrm>
              <a:off x="0" y="-57150"/>
              <a:ext cx="1640020" cy="5753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233333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8" name="Google Shape;288;p23"/>
          <p:cNvGrpSpPr/>
          <p:nvPr/>
        </p:nvGrpSpPr>
        <p:grpSpPr>
          <a:xfrm>
            <a:off x="9059596" y="1599381"/>
            <a:ext cx="1972753" cy="2083309"/>
            <a:chOff x="0" y="-47625"/>
            <a:chExt cx="812800" cy="858351"/>
          </a:xfrm>
        </p:grpSpPr>
        <p:sp>
          <p:nvSpPr>
            <p:cNvPr id="289" name="Google Shape;289;p23"/>
            <p:cNvSpPr/>
            <p:nvPr/>
          </p:nvSpPr>
          <p:spPr>
            <a:xfrm>
              <a:off x="0" y="0"/>
              <a:ext cx="812800" cy="810726"/>
            </a:xfrm>
            <a:custGeom>
              <a:avLst/>
              <a:gdLst/>
              <a:ahLst/>
              <a:cxnLst/>
              <a:rect l="l" t="t" r="r" b="b"/>
              <a:pathLst>
                <a:path w="812800" h="810726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0726"/>
                  </a:lnTo>
                  <a:lnTo>
                    <a:pt x="0" y="810726"/>
                  </a:lnTo>
                  <a:close/>
                </a:path>
              </a:pathLst>
            </a:custGeom>
            <a:solidFill>
              <a:srgbClr val="FE2E00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0" name="Google Shape;290;p23"/>
            <p:cNvSpPr txBox="1"/>
            <p:nvPr/>
          </p:nvSpPr>
          <p:spPr>
            <a:xfrm>
              <a:off x="0" y="-47625"/>
              <a:ext cx="812800" cy="8583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1" name="Google Shape;291;p23"/>
          <p:cNvGrpSpPr/>
          <p:nvPr/>
        </p:nvGrpSpPr>
        <p:grpSpPr>
          <a:xfrm>
            <a:off x="9059596" y="4044050"/>
            <a:ext cx="1972753" cy="2083309"/>
            <a:chOff x="0" y="-47625"/>
            <a:chExt cx="812800" cy="858351"/>
          </a:xfrm>
        </p:grpSpPr>
        <p:sp>
          <p:nvSpPr>
            <p:cNvPr id="292" name="Google Shape;292;p23"/>
            <p:cNvSpPr/>
            <p:nvPr/>
          </p:nvSpPr>
          <p:spPr>
            <a:xfrm>
              <a:off x="0" y="0"/>
              <a:ext cx="812800" cy="810726"/>
            </a:xfrm>
            <a:custGeom>
              <a:avLst/>
              <a:gdLst/>
              <a:ahLst/>
              <a:cxnLst/>
              <a:rect l="l" t="t" r="r" b="b"/>
              <a:pathLst>
                <a:path w="812800" h="810726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0726"/>
                  </a:lnTo>
                  <a:lnTo>
                    <a:pt x="0" y="810726"/>
                  </a:lnTo>
                  <a:close/>
                </a:path>
              </a:pathLst>
            </a:custGeom>
            <a:solidFill>
              <a:srgbClr val="FE2E00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3" name="Google Shape;293;p23"/>
            <p:cNvSpPr txBox="1"/>
            <p:nvPr/>
          </p:nvSpPr>
          <p:spPr>
            <a:xfrm>
              <a:off x="0" y="-47625"/>
              <a:ext cx="812800" cy="8583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4" name="Google Shape;294;p23"/>
          <p:cNvGrpSpPr/>
          <p:nvPr/>
        </p:nvGrpSpPr>
        <p:grpSpPr>
          <a:xfrm>
            <a:off x="9059596" y="6483456"/>
            <a:ext cx="1972753" cy="2083309"/>
            <a:chOff x="0" y="-47625"/>
            <a:chExt cx="812800" cy="858351"/>
          </a:xfrm>
        </p:grpSpPr>
        <p:sp>
          <p:nvSpPr>
            <p:cNvPr id="295" name="Google Shape;295;p23"/>
            <p:cNvSpPr/>
            <p:nvPr/>
          </p:nvSpPr>
          <p:spPr>
            <a:xfrm>
              <a:off x="0" y="0"/>
              <a:ext cx="812800" cy="810726"/>
            </a:xfrm>
            <a:custGeom>
              <a:avLst/>
              <a:gdLst/>
              <a:ahLst/>
              <a:cxnLst/>
              <a:rect l="l" t="t" r="r" b="b"/>
              <a:pathLst>
                <a:path w="812800" h="810726" extrusionOk="0">
                  <a:moveTo>
                    <a:pt x="0" y="0"/>
                  </a:moveTo>
                  <a:lnTo>
                    <a:pt x="812800" y="0"/>
                  </a:lnTo>
                  <a:lnTo>
                    <a:pt x="812800" y="810726"/>
                  </a:lnTo>
                  <a:lnTo>
                    <a:pt x="0" y="810726"/>
                  </a:lnTo>
                  <a:close/>
                </a:path>
              </a:pathLst>
            </a:custGeom>
            <a:solidFill>
              <a:srgbClr val="FE2E00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6" name="Google Shape;296;p23"/>
            <p:cNvSpPr txBox="1"/>
            <p:nvPr/>
          </p:nvSpPr>
          <p:spPr>
            <a:xfrm>
              <a:off x="0" y="-47625"/>
              <a:ext cx="812800" cy="8583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55555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7" name="Google Shape;297;p23"/>
          <p:cNvSpPr/>
          <p:nvPr/>
        </p:nvSpPr>
        <p:spPr>
          <a:xfrm>
            <a:off x="9311735" y="2004643"/>
            <a:ext cx="1468475" cy="1388377"/>
          </a:xfrm>
          <a:custGeom>
            <a:avLst/>
            <a:gdLst/>
            <a:ahLst/>
            <a:cxnLst/>
            <a:rect l="l" t="t" r="r" b="b"/>
            <a:pathLst>
              <a:path w="1468475" h="1388377" extrusionOk="0">
                <a:moveTo>
                  <a:pt x="0" y="0"/>
                </a:moveTo>
                <a:lnTo>
                  <a:pt x="1468475" y="0"/>
                </a:lnTo>
                <a:lnTo>
                  <a:pt x="1468475" y="1388377"/>
                </a:lnTo>
                <a:lnTo>
                  <a:pt x="0" y="13883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8" name="Google Shape;298;p23"/>
          <p:cNvSpPr/>
          <p:nvPr/>
        </p:nvSpPr>
        <p:spPr>
          <a:xfrm>
            <a:off x="9351784" y="4446680"/>
            <a:ext cx="1388377" cy="1388377"/>
          </a:xfrm>
          <a:custGeom>
            <a:avLst/>
            <a:gdLst/>
            <a:ahLst/>
            <a:cxnLst/>
            <a:rect l="l" t="t" r="r" b="b"/>
            <a:pathLst>
              <a:path w="1388377" h="1388377" extrusionOk="0">
                <a:moveTo>
                  <a:pt x="0" y="0"/>
                </a:moveTo>
                <a:lnTo>
                  <a:pt x="1388377" y="0"/>
                </a:lnTo>
                <a:lnTo>
                  <a:pt x="1388377" y="1388377"/>
                </a:lnTo>
                <a:lnTo>
                  <a:pt x="0" y="13883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9" name="Google Shape;299;p23"/>
          <p:cNvSpPr/>
          <p:nvPr/>
        </p:nvSpPr>
        <p:spPr>
          <a:xfrm>
            <a:off x="9351784" y="6888717"/>
            <a:ext cx="1388377" cy="1388377"/>
          </a:xfrm>
          <a:custGeom>
            <a:avLst/>
            <a:gdLst/>
            <a:ahLst/>
            <a:cxnLst/>
            <a:rect l="l" t="t" r="r" b="b"/>
            <a:pathLst>
              <a:path w="1388377" h="1388377" extrusionOk="0">
                <a:moveTo>
                  <a:pt x="0" y="0"/>
                </a:moveTo>
                <a:lnTo>
                  <a:pt x="1388377" y="0"/>
                </a:lnTo>
                <a:lnTo>
                  <a:pt x="1388377" y="1388377"/>
                </a:lnTo>
                <a:lnTo>
                  <a:pt x="0" y="138837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0" name="Google Shape;300;p23"/>
          <p:cNvSpPr txBox="1"/>
          <p:nvPr/>
        </p:nvSpPr>
        <p:spPr>
          <a:xfrm>
            <a:off x="1028700" y="2672050"/>
            <a:ext cx="6690600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Test your audience’s knowledge with a rapid-fire quiz. Give real-world scenarios and ask them to pick the right cloud service type. </a:t>
            </a:r>
            <a:endParaRPr sz="1000"/>
          </a:p>
        </p:txBody>
      </p:sp>
      <p:sp>
        <p:nvSpPr>
          <p:cNvPr id="301" name="Google Shape;301;p23"/>
          <p:cNvSpPr txBox="1"/>
          <p:nvPr/>
        </p:nvSpPr>
        <p:spPr>
          <a:xfrm>
            <a:off x="1028700" y="1171575"/>
            <a:ext cx="6230897" cy="1024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700" b="0" i="0" u="none" strike="noStrike" cap="none">
                <a:solidFill>
                  <a:srgbClr val="000000"/>
                </a:solidFill>
                <a:latin typeface="Lora"/>
                <a:ea typeface="Lora"/>
                <a:cs typeface="Lora"/>
                <a:sym typeface="Lora"/>
              </a:rPr>
              <a:t>SPEED QUIZ</a:t>
            </a:r>
            <a:endParaRPr/>
          </a:p>
        </p:txBody>
      </p:sp>
      <p:sp>
        <p:nvSpPr>
          <p:cNvPr id="302" name="Google Shape;302;p23"/>
          <p:cNvSpPr txBox="1"/>
          <p:nvPr/>
        </p:nvSpPr>
        <p:spPr>
          <a:xfrm>
            <a:off x="12287450" y="2401375"/>
            <a:ext cx="3716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1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Add scenario 1 here.</a:t>
            </a:r>
            <a:endParaRPr/>
          </a:p>
        </p:txBody>
      </p:sp>
      <p:sp>
        <p:nvSpPr>
          <p:cNvPr id="303" name="Google Shape;303;p23"/>
          <p:cNvSpPr txBox="1"/>
          <p:nvPr/>
        </p:nvSpPr>
        <p:spPr>
          <a:xfrm>
            <a:off x="12208550" y="4846025"/>
            <a:ext cx="38745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1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Add scenario 2 here.</a:t>
            </a:r>
            <a:endParaRPr/>
          </a:p>
        </p:txBody>
      </p:sp>
      <p:sp>
        <p:nvSpPr>
          <p:cNvPr id="304" name="Google Shape;304;p23"/>
          <p:cNvSpPr txBox="1"/>
          <p:nvPr/>
        </p:nvSpPr>
        <p:spPr>
          <a:xfrm>
            <a:off x="12149375" y="7285450"/>
            <a:ext cx="3993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1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Add scenario 3 here.</a:t>
            </a:r>
            <a:endParaRPr/>
          </a:p>
        </p:txBody>
      </p:sp>
      <p:cxnSp>
        <p:nvCxnSpPr>
          <p:cNvPr id="305" name="Google Shape;305;p23"/>
          <p:cNvCxnSpPr/>
          <p:nvPr/>
        </p:nvCxnSpPr>
        <p:spPr>
          <a:xfrm>
            <a:off x="4461871" y="8926820"/>
            <a:ext cx="2797727" cy="0"/>
          </a:xfrm>
          <a:prstGeom prst="straightConnector1">
            <a:avLst/>
          </a:prstGeom>
          <a:noFill/>
          <a:ln w="28575" cap="flat" cmpd="sng">
            <a:solidFill>
              <a:srgbClr val="E6E6E6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2E00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2" name="Google Shape;332;p25"/>
          <p:cNvGrpSpPr/>
          <p:nvPr/>
        </p:nvGrpSpPr>
        <p:grpSpPr>
          <a:xfrm>
            <a:off x="1028700" y="8566765"/>
            <a:ext cx="2881846" cy="691535"/>
            <a:chOff x="0" y="0"/>
            <a:chExt cx="3842461" cy="922047"/>
          </a:xfrm>
        </p:grpSpPr>
        <p:sp>
          <p:nvSpPr>
            <p:cNvPr id="333" name="Google Shape;333;p25"/>
            <p:cNvSpPr/>
            <p:nvPr/>
          </p:nvSpPr>
          <p:spPr>
            <a:xfrm>
              <a:off x="0" y="0"/>
              <a:ext cx="922047" cy="922047"/>
            </a:xfrm>
            <a:custGeom>
              <a:avLst/>
              <a:gdLst/>
              <a:ahLst/>
              <a:cxnLst/>
              <a:rect l="l" t="t" r="r" b="b"/>
              <a:pathLst>
                <a:path w="922047" h="922047" extrusionOk="0">
                  <a:moveTo>
                    <a:pt x="0" y="0"/>
                  </a:moveTo>
                  <a:lnTo>
                    <a:pt x="922047" y="0"/>
                  </a:lnTo>
                  <a:lnTo>
                    <a:pt x="922047" y="922047"/>
                  </a:lnTo>
                  <a:lnTo>
                    <a:pt x="0" y="922047"/>
                  </a:lnTo>
                  <a:lnTo>
                    <a:pt x="0" y="0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4" name="Google Shape;334;p25"/>
            <p:cNvSpPr txBox="1"/>
            <p:nvPr/>
          </p:nvSpPr>
          <p:spPr>
            <a:xfrm>
              <a:off x="1112744" y="99554"/>
              <a:ext cx="2729717" cy="7705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96" b="0" i="0" u="none" strike="noStrike" cap="none">
                  <a:solidFill>
                    <a:srgbClr val="FFFDFC"/>
                  </a:solidFill>
                  <a:latin typeface="Open Sans"/>
                  <a:ea typeface="Open Sans"/>
                  <a:cs typeface="Open Sans"/>
                  <a:sym typeface="Open Sans"/>
                </a:rPr>
                <a:t>CIRCUIT INNOVATION</a:t>
              </a:r>
              <a:endParaRPr/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196" b="0" i="0" u="none" strike="noStrike" cap="none">
                  <a:solidFill>
                    <a:srgbClr val="FFFDFC"/>
                  </a:solidFill>
                  <a:latin typeface="Open Sans"/>
                  <a:ea typeface="Open Sans"/>
                  <a:cs typeface="Open Sans"/>
                  <a:sym typeface="Open Sans"/>
                </a:rPr>
                <a:t>SYSTEMS CO.</a:t>
              </a:r>
              <a:endParaRPr/>
            </a:p>
          </p:txBody>
        </p:sp>
      </p:grpSp>
      <p:cxnSp>
        <p:nvCxnSpPr>
          <p:cNvPr id="335" name="Google Shape;335;p25"/>
          <p:cNvCxnSpPr/>
          <p:nvPr/>
        </p:nvCxnSpPr>
        <p:spPr>
          <a:xfrm>
            <a:off x="4406104" y="8931582"/>
            <a:ext cx="4343744" cy="0"/>
          </a:xfrm>
          <a:prstGeom prst="straightConnector1">
            <a:avLst/>
          </a:prstGeom>
          <a:noFill/>
          <a:ln w="28575" cap="flat" cmpd="sng">
            <a:solidFill>
              <a:srgbClr val="FE2E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6" name="Google Shape;336;p25"/>
          <p:cNvSpPr/>
          <p:nvPr/>
        </p:nvSpPr>
        <p:spPr>
          <a:xfrm>
            <a:off x="10017699" y="1536791"/>
            <a:ext cx="3620800" cy="5531779"/>
          </a:xfrm>
          <a:custGeom>
            <a:avLst/>
            <a:gdLst/>
            <a:ahLst/>
            <a:cxnLst/>
            <a:rect l="l" t="t" r="r" b="b"/>
            <a:pathLst>
              <a:path w="3620800" h="5531779" extrusionOk="0">
                <a:moveTo>
                  <a:pt x="0" y="0"/>
                </a:moveTo>
                <a:lnTo>
                  <a:pt x="3620801" y="0"/>
                </a:lnTo>
                <a:lnTo>
                  <a:pt x="3620801" y="5531778"/>
                </a:lnTo>
                <a:lnTo>
                  <a:pt x="0" y="55317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7" name="Google Shape;337;p25"/>
          <p:cNvSpPr/>
          <p:nvPr/>
        </p:nvSpPr>
        <p:spPr>
          <a:xfrm>
            <a:off x="13638500" y="3218431"/>
            <a:ext cx="3620800" cy="5531779"/>
          </a:xfrm>
          <a:custGeom>
            <a:avLst/>
            <a:gdLst/>
            <a:ahLst/>
            <a:cxnLst/>
            <a:rect l="l" t="t" r="r" b="b"/>
            <a:pathLst>
              <a:path w="3620800" h="5531779" extrusionOk="0">
                <a:moveTo>
                  <a:pt x="0" y="0"/>
                </a:moveTo>
                <a:lnTo>
                  <a:pt x="3620800" y="0"/>
                </a:lnTo>
                <a:lnTo>
                  <a:pt x="3620800" y="5531778"/>
                </a:lnTo>
                <a:lnTo>
                  <a:pt x="0" y="55317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38" name="Google Shape;338;p25"/>
          <p:cNvSpPr txBox="1"/>
          <p:nvPr/>
        </p:nvSpPr>
        <p:spPr>
          <a:xfrm>
            <a:off x="1028700" y="1627131"/>
            <a:ext cx="7721100" cy="25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600" b="0" i="0" u="none" strike="noStrike" cap="none">
                <a:solidFill>
                  <a:srgbClr val="FFFDFC"/>
                </a:solidFill>
                <a:latin typeface="Lora"/>
                <a:ea typeface="Lora"/>
                <a:cs typeface="Lora"/>
                <a:sym typeface="Lora"/>
              </a:rPr>
              <a:t>GOT QUESTIONS?</a:t>
            </a:r>
            <a:endParaRPr/>
          </a:p>
        </p:txBody>
      </p:sp>
      <p:grpSp>
        <p:nvGrpSpPr>
          <p:cNvPr id="339" name="Google Shape;339;p25"/>
          <p:cNvGrpSpPr/>
          <p:nvPr/>
        </p:nvGrpSpPr>
        <p:grpSpPr>
          <a:xfrm>
            <a:off x="1028700" y="4697638"/>
            <a:ext cx="5478751" cy="945329"/>
            <a:chOff x="0" y="-57150"/>
            <a:chExt cx="7305000" cy="1260439"/>
          </a:xfrm>
        </p:grpSpPr>
        <p:sp>
          <p:nvSpPr>
            <p:cNvPr id="340" name="Google Shape;340;p25"/>
            <p:cNvSpPr txBox="1"/>
            <p:nvPr/>
          </p:nvSpPr>
          <p:spPr>
            <a:xfrm>
              <a:off x="0" y="-57150"/>
              <a:ext cx="5000100" cy="57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99" b="0" i="0" u="none" strike="noStrike" cap="none">
                  <a:solidFill>
                    <a:srgbClr val="FFFDFC"/>
                  </a:solidFill>
                  <a:latin typeface="Open Sans"/>
                  <a:ea typeface="Open Sans"/>
                  <a:cs typeface="Open Sans"/>
                  <a:sym typeface="Open Sans"/>
                </a:rPr>
                <a:t>Email </a:t>
              </a:r>
              <a:endParaRPr sz="1000"/>
            </a:p>
          </p:txBody>
        </p:sp>
        <p:sp>
          <p:nvSpPr>
            <p:cNvPr id="341" name="Google Shape;341;p25"/>
            <p:cNvSpPr txBox="1"/>
            <p:nvPr/>
          </p:nvSpPr>
          <p:spPr>
            <a:xfrm>
              <a:off x="0" y="710689"/>
              <a:ext cx="73050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604521" marR="0" lvl="1" indent="-276861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DFC"/>
                </a:buClr>
                <a:buSzPts val="2400"/>
                <a:buFont typeface="Arial"/>
                <a:buChar char="•"/>
              </a:pPr>
              <a:r>
                <a:rPr lang="en-US" sz="2400" b="0" i="0" u="none" strike="noStrike" cap="none">
                  <a:solidFill>
                    <a:srgbClr val="FFFDFC"/>
                  </a:solidFill>
                  <a:latin typeface="Open Sans"/>
                  <a:ea typeface="Open Sans"/>
                  <a:cs typeface="Open Sans"/>
                  <a:sym typeface="Open Sans"/>
                </a:rPr>
                <a:t>hello@reallygreatsite.com</a:t>
              </a:r>
              <a:endParaRPr sz="1000"/>
            </a:p>
          </p:txBody>
        </p:sp>
      </p:grpSp>
      <p:grpSp>
        <p:nvGrpSpPr>
          <p:cNvPr id="342" name="Google Shape;342;p25"/>
          <p:cNvGrpSpPr/>
          <p:nvPr/>
        </p:nvGrpSpPr>
        <p:grpSpPr>
          <a:xfrm>
            <a:off x="1028700" y="6054238"/>
            <a:ext cx="7500150" cy="945329"/>
            <a:chOff x="0" y="-57150"/>
            <a:chExt cx="10000200" cy="1260439"/>
          </a:xfrm>
        </p:grpSpPr>
        <p:sp>
          <p:nvSpPr>
            <p:cNvPr id="343" name="Google Shape;343;p25"/>
            <p:cNvSpPr txBox="1"/>
            <p:nvPr/>
          </p:nvSpPr>
          <p:spPr>
            <a:xfrm>
              <a:off x="0" y="-57150"/>
              <a:ext cx="5147400" cy="574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4001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799" b="0" i="0" u="none" strike="noStrike" cap="none">
                  <a:solidFill>
                    <a:srgbClr val="FFFDFC"/>
                  </a:solidFill>
                  <a:latin typeface="Open Sans"/>
                  <a:ea typeface="Open Sans"/>
                  <a:cs typeface="Open Sans"/>
                  <a:sym typeface="Open Sans"/>
                </a:rPr>
                <a:t>Social media </a:t>
              </a:r>
              <a:endParaRPr sz="1000"/>
            </a:p>
          </p:txBody>
        </p:sp>
        <p:sp>
          <p:nvSpPr>
            <p:cNvPr id="344" name="Google Shape;344;p25"/>
            <p:cNvSpPr txBox="1"/>
            <p:nvPr/>
          </p:nvSpPr>
          <p:spPr>
            <a:xfrm>
              <a:off x="0" y="710689"/>
              <a:ext cx="10000200" cy="49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604521" marR="0" lvl="1" indent="-276861" algn="l" rtl="0">
                <a:lnSpc>
                  <a:spcPct val="14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DFC"/>
                </a:buClr>
                <a:buSzPts val="2400"/>
                <a:buFont typeface="Arial"/>
                <a:buChar char="•"/>
              </a:pPr>
              <a:r>
                <a:rPr lang="en-US" sz="2400" b="0" i="0" u="none" strike="noStrike" cap="none">
                  <a:solidFill>
                    <a:srgbClr val="FFFDFC"/>
                  </a:solidFill>
                  <a:latin typeface="Open Sans"/>
                  <a:ea typeface="Open Sans"/>
                  <a:cs typeface="Open Sans"/>
                  <a:sym typeface="Open Sans"/>
                </a:rPr>
                <a:t>@reallygreatsite</a:t>
              </a:r>
              <a:endParaRPr sz="1000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0000"/>
            </a:gs>
            <a:gs pos="100000">
              <a:srgbClr val="2E2E2E"/>
            </a:gs>
          </a:gsLst>
          <a:lin ang="0" scaled="0"/>
        </a:gradFill>
        <a:effectLst/>
      </p:bgPr>
    </p:bg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9" name="Google Shape;349;p26"/>
          <p:cNvGrpSpPr/>
          <p:nvPr/>
        </p:nvGrpSpPr>
        <p:grpSpPr>
          <a:xfrm>
            <a:off x="714865" y="2300537"/>
            <a:ext cx="5097641" cy="7400322"/>
            <a:chOff x="0" y="0"/>
            <a:chExt cx="1342589" cy="1949056"/>
          </a:xfrm>
        </p:grpSpPr>
        <p:sp>
          <p:nvSpPr>
            <p:cNvPr id="350" name="Google Shape;350;p26"/>
            <p:cNvSpPr/>
            <p:nvPr/>
          </p:nvSpPr>
          <p:spPr>
            <a:xfrm>
              <a:off x="0" y="0"/>
              <a:ext cx="1342589" cy="1949056"/>
            </a:xfrm>
            <a:custGeom>
              <a:avLst/>
              <a:gdLst/>
              <a:ahLst/>
              <a:cxnLst/>
              <a:rect l="l" t="t" r="r" b="b"/>
              <a:pathLst>
                <a:path w="1342589" h="1949056" extrusionOk="0">
                  <a:moveTo>
                    <a:pt x="30375" y="0"/>
                  </a:moveTo>
                  <a:lnTo>
                    <a:pt x="1312214" y="0"/>
                  </a:lnTo>
                  <a:cubicBezTo>
                    <a:pt x="1320270" y="0"/>
                    <a:pt x="1327996" y="3200"/>
                    <a:pt x="1333692" y="8896"/>
                  </a:cubicBezTo>
                  <a:cubicBezTo>
                    <a:pt x="1339388" y="14593"/>
                    <a:pt x="1342589" y="22319"/>
                    <a:pt x="1342589" y="30375"/>
                  </a:cubicBezTo>
                  <a:lnTo>
                    <a:pt x="1342589" y="1918682"/>
                  </a:lnTo>
                  <a:cubicBezTo>
                    <a:pt x="1342589" y="1935457"/>
                    <a:pt x="1328989" y="1949056"/>
                    <a:pt x="1312214" y="1949056"/>
                  </a:cubicBezTo>
                  <a:lnTo>
                    <a:pt x="30375" y="1949056"/>
                  </a:lnTo>
                  <a:cubicBezTo>
                    <a:pt x="22319" y="1949056"/>
                    <a:pt x="14593" y="1945856"/>
                    <a:pt x="8896" y="1940159"/>
                  </a:cubicBezTo>
                  <a:cubicBezTo>
                    <a:pt x="3200" y="1934463"/>
                    <a:pt x="0" y="1926737"/>
                    <a:pt x="0" y="1918682"/>
                  </a:cubicBezTo>
                  <a:lnTo>
                    <a:pt x="0" y="30375"/>
                  </a:lnTo>
                  <a:cubicBezTo>
                    <a:pt x="0" y="13599"/>
                    <a:pt x="13599" y="0"/>
                    <a:pt x="3037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26"/>
            <p:cNvSpPr txBox="1"/>
            <p:nvPr/>
          </p:nvSpPr>
          <p:spPr>
            <a:xfrm>
              <a:off x="0" y="9525"/>
              <a:ext cx="1342589" cy="19395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2" name="Google Shape;352;p26"/>
          <p:cNvGrpSpPr/>
          <p:nvPr/>
        </p:nvGrpSpPr>
        <p:grpSpPr>
          <a:xfrm>
            <a:off x="6060156" y="2300537"/>
            <a:ext cx="11512980" cy="7400322"/>
            <a:chOff x="0" y="0"/>
            <a:chExt cx="3032225" cy="1949056"/>
          </a:xfrm>
        </p:grpSpPr>
        <p:sp>
          <p:nvSpPr>
            <p:cNvPr id="353" name="Google Shape;353;p26"/>
            <p:cNvSpPr/>
            <p:nvPr/>
          </p:nvSpPr>
          <p:spPr>
            <a:xfrm>
              <a:off x="0" y="0"/>
              <a:ext cx="3032225" cy="1949056"/>
            </a:xfrm>
            <a:custGeom>
              <a:avLst/>
              <a:gdLst/>
              <a:ahLst/>
              <a:cxnLst/>
              <a:rect l="l" t="t" r="r" b="b"/>
              <a:pathLst>
                <a:path w="3032225" h="1949056" extrusionOk="0">
                  <a:moveTo>
                    <a:pt x="13449" y="0"/>
                  </a:moveTo>
                  <a:lnTo>
                    <a:pt x="3018776" y="0"/>
                  </a:lnTo>
                  <a:cubicBezTo>
                    <a:pt x="3022343" y="0"/>
                    <a:pt x="3025764" y="1417"/>
                    <a:pt x="3028286" y="3939"/>
                  </a:cubicBezTo>
                  <a:cubicBezTo>
                    <a:pt x="3030808" y="6461"/>
                    <a:pt x="3032225" y="9882"/>
                    <a:pt x="3032225" y="13449"/>
                  </a:cubicBezTo>
                  <a:lnTo>
                    <a:pt x="3032225" y="1935607"/>
                  </a:lnTo>
                  <a:cubicBezTo>
                    <a:pt x="3032225" y="1939174"/>
                    <a:pt x="3030808" y="1942595"/>
                    <a:pt x="3028286" y="1945117"/>
                  </a:cubicBezTo>
                  <a:cubicBezTo>
                    <a:pt x="3025764" y="1947639"/>
                    <a:pt x="3022343" y="1949056"/>
                    <a:pt x="3018776" y="1949056"/>
                  </a:cubicBezTo>
                  <a:lnTo>
                    <a:pt x="13449" y="1949056"/>
                  </a:lnTo>
                  <a:cubicBezTo>
                    <a:pt x="9882" y="1949056"/>
                    <a:pt x="6461" y="1947639"/>
                    <a:pt x="3939" y="1945117"/>
                  </a:cubicBezTo>
                  <a:cubicBezTo>
                    <a:pt x="1417" y="1942595"/>
                    <a:pt x="0" y="1939174"/>
                    <a:pt x="0" y="1935607"/>
                  </a:cubicBezTo>
                  <a:lnTo>
                    <a:pt x="0" y="13449"/>
                  </a:lnTo>
                  <a:cubicBezTo>
                    <a:pt x="0" y="9882"/>
                    <a:pt x="1417" y="6461"/>
                    <a:pt x="3939" y="3939"/>
                  </a:cubicBezTo>
                  <a:cubicBezTo>
                    <a:pt x="6461" y="1417"/>
                    <a:pt x="9882" y="0"/>
                    <a:pt x="1344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26"/>
            <p:cNvSpPr txBox="1"/>
            <p:nvPr/>
          </p:nvSpPr>
          <p:spPr>
            <a:xfrm>
              <a:off x="0" y="9525"/>
              <a:ext cx="3032225" cy="193953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5" name="Google Shape;355;p26"/>
          <p:cNvGrpSpPr/>
          <p:nvPr/>
        </p:nvGrpSpPr>
        <p:grpSpPr>
          <a:xfrm>
            <a:off x="1104558" y="2712744"/>
            <a:ext cx="4318255" cy="647237"/>
            <a:chOff x="0" y="0"/>
            <a:chExt cx="1137318" cy="170466"/>
          </a:xfrm>
        </p:grpSpPr>
        <p:sp>
          <p:nvSpPr>
            <p:cNvPr id="356" name="Google Shape;356;p26"/>
            <p:cNvSpPr/>
            <p:nvPr/>
          </p:nvSpPr>
          <p:spPr>
            <a:xfrm>
              <a:off x="0" y="0"/>
              <a:ext cx="1137318" cy="170466"/>
            </a:xfrm>
            <a:custGeom>
              <a:avLst/>
              <a:gdLst/>
              <a:ahLst/>
              <a:cxnLst/>
              <a:rect l="l" t="t" r="r" b="b"/>
              <a:pathLst>
                <a:path w="1137318" h="170466" extrusionOk="0">
                  <a:moveTo>
                    <a:pt x="35857" y="0"/>
                  </a:moveTo>
                  <a:lnTo>
                    <a:pt x="1101462" y="0"/>
                  </a:lnTo>
                  <a:cubicBezTo>
                    <a:pt x="1121265" y="0"/>
                    <a:pt x="1137318" y="16054"/>
                    <a:pt x="1137318" y="35857"/>
                  </a:cubicBezTo>
                  <a:lnTo>
                    <a:pt x="1137318" y="134609"/>
                  </a:lnTo>
                  <a:cubicBezTo>
                    <a:pt x="1137318" y="144119"/>
                    <a:pt x="1133540" y="153239"/>
                    <a:pt x="1126816" y="159964"/>
                  </a:cubicBezTo>
                  <a:cubicBezTo>
                    <a:pt x="1120092" y="166688"/>
                    <a:pt x="1110971" y="170466"/>
                    <a:pt x="1101462" y="170466"/>
                  </a:cubicBezTo>
                  <a:lnTo>
                    <a:pt x="35857" y="170466"/>
                  </a:lnTo>
                  <a:cubicBezTo>
                    <a:pt x="26347" y="170466"/>
                    <a:pt x="17227" y="166688"/>
                    <a:pt x="10502" y="159964"/>
                  </a:cubicBezTo>
                  <a:cubicBezTo>
                    <a:pt x="3778" y="153239"/>
                    <a:pt x="0" y="144119"/>
                    <a:pt x="0" y="134609"/>
                  </a:cubicBezTo>
                  <a:lnTo>
                    <a:pt x="0" y="35857"/>
                  </a:lnTo>
                  <a:cubicBezTo>
                    <a:pt x="0" y="26347"/>
                    <a:pt x="3778" y="17227"/>
                    <a:pt x="10502" y="10502"/>
                  </a:cubicBezTo>
                  <a:cubicBezTo>
                    <a:pt x="17227" y="3778"/>
                    <a:pt x="26347" y="0"/>
                    <a:pt x="35857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6"/>
            <p:cNvSpPr txBox="1"/>
            <p:nvPr/>
          </p:nvSpPr>
          <p:spPr>
            <a:xfrm>
              <a:off x="0" y="0"/>
              <a:ext cx="1137318" cy="1704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200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i="0" u="none" strike="noStrike" cap="none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Fonts</a:t>
              </a:r>
              <a:endParaRPr/>
            </a:p>
          </p:txBody>
        </p:sp>
      </p:grpSp>
      <p:grpSp>
        <p:nvGrpSpPr>
          <p:cNvPr id="358" name="Google Shape;358;p26"/>
          <p:cNvGrpSpPr/>
          <p:nvPr/>
        </p:nvGrpSpPr>
        <p:grpSpPr>
          <a:xfrm>
            <a:off x="9623087" y="2712744"/>
            <a:ext cx="4368067" cy="647237"/>
            <a:chOff x="0" y="0"/>
            <a:chExt cx="1150437" cy="170466"/>
          </a:xfrm>
        </p:grpSpPr>
        <p:sp>
          <p:nvSpPr>
            <p:cNvPr id="359" name="Google Shape;359;p26"/>
            <p:cNvSpPr/>
            <p:nvPr/>
          </p:nvSpPr>
          <p:spPr>
            <a:xfrm>
              <a:off x="0" y="0"/>
              <a:ext cx="1150437" cy="170466"/>
            </a:xfrm>
            <a:custGeom>
              <a:avLst/>
              <a:gdLst/>
              <a:ahLst/>
              <a:cxnLst/>
              <a:rect l="l" t="t" r="r" b="b"/>
              <a:pathLst>
                <a:path w="1150437" h="170466" extrusionOk="0">
                  <a:moveTo>
                    <a:pt x="35448" y="0"/>
                  </a:moveTo>
                  <a:lnTo>
                    <a:pt x="1114989" y="0"/>
                  </a:lnTo>
                  <a:cubicBezTo>
                    <a:pt x="1124391" y="0"/>
                    <a:pt x="1133407" y="3735"/>
                    <a:pt x="1140055" y="10382"/>
                  </a:cubicBezTo>
                  <a:cubicBezTo>
                    <a:pt x="1146703" y="17030"/>
                    <a:pt x="1150437" y="26046"/>
                    <a:pt x="1150437" y="35448"/>
                  </a:cubicBezTo>
                  <a:lnTo>
                    <a:pt x="1150437" y="135018"/>
                  </a:lnTo>
                  <a:cubicBezTo>
                    <a:pt x="1150437" y="144419"/>
                    <a:pt x="1146703" y="153436"/>
                    <a:pt x="1140055" y="160083"/>
                  </a:cubicBezTo>
                  <a:cubicBezTo>
                    <a:pt x="1133407" y="166731"/>
                    <a:pt x="1124391" y="170466"/>
                    <a:pt x="1114989" y="170466"/>
                  </a:cubicBezTo>
                  <a:lnTo>
                    <a:pt x="35448" y="170466"/>
                  </a:lnTo>
                  <a:cubicBezTo>
                    <a:pt x="26046" y="170466"/>
                    <a:pt x="17030" y="166731"/>
                    <a:pt x="10382" y="160083"/>
                  </a:cubicBezTo>
                  <a:cubicBezTo>
                    <a:pt x="3735" y="153436"/>
                    <a:pt x="0" y="144419"/>
                    <a:pt x="0" y="135018"/>
                  </a:cubicBezTo>
                  <a:lnTo>
                    <a:pt x="0" y="35448"/>
                  </a:lnTo>
                  <a:cubicBezTo>
                    <a:pt x="0" y="26046"/>
                    <a:pt x="3735" y="17030"/>
                    <a:pt x="10382" y="10382"/>
                  </a:cubicBezTo>
                  <a:cubicBezTo>
                    <a:pt x="17030" y="3735"/>
                    <a:pt x="26046" y="0"/>
                    <a:pt x="35448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26"/>
            <p:cNvSpPr txBox="1"/>
            <p:nvPr/>
          </p:nvSpPr>
          <p:spPr>
            <a:xfrm>
              <a:off x="0" y="0"/>
              <a:ext cx="1150437" cy="1704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200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i="0" u="none" strike="noStrike" cap="none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Design Elements / Icons</a:t>
              </a:r>
              <a:endParaRPr/>
            </a:p>
          </p:txBody>
        </p:sp>
      </p:grpSp>
      <p:grpSp>
        <p:nvGrpSpPr>
          <p:cNvPr id="361" name="Google Shape;361;p26"/>
          <p:cNvGrpSpPr/>
          <p:nvPr/>
        </p:nvGrpSpPr>
        <p:grpSpPr>
          <a:xfrm>
            <a:off x="1104558" y="7347143"/>
            <a:ext cx="4318255" cy="647237"/>
            <a:chOff x="0" y="0"/>
            <a:chExt cx="1137318" cy="170466"/>
          </a:xfrm>
        </p:grpSpPr>
        <p:sp>
          <p:nvSpPr>
            <p:cNvPr id="362" name="Google Shape;362;p26"/>
            <p:cNvSpPr/>
            <p:nvPr/>
          </p:nvSpPr>
          <p:spPr>
            <a:xfrm>
              <a:off x="0" y="0"/>
              <a:ext cx="1137318" cy="170466"/>
            </a:xfrm>
            <a:custGeom>
              <a:avLst/>
              <a:gdLst/>
              <a:ahLst/>
              <a:cxnLst/>
              <a:rect l="l" t="t" r="r" b="b"/>
              <a:pathLst>
                <a:path w="1137318" h="170466" extrusionOk="0">
                  <a:moveTo>
                    <a:pt x="35857" y="0"/>
                  </a:moveTo>
                  <a:lnTo>
                    <a:pt x="1101462" y="0"/>
                  </a:lnTo>
                  <a:cubicBezTo>
                    <a:pt x="1121265" y="0"/>
                    <a:pt x="1137318" y="16054"/>
                    <a:pt x="1137318" y="35857"/>
                  </a:cubicBezTo>
                  <a:lnTo>
                    <a:pt x="1137318" y="134609"/>
                  </a:lnTo>
                  <a:cubicBezTo>
                    <a:pt x="1137318" y="144119"/>
                    <a:pt x="1133540" y="153239"/>
                    <a:pt x="1126816" y="159964"/>
                  </a:cubicBezTo>
                  <a:cubicBezTo>
                    <a:pt x="1120092" y="166688"/>
                    <a:pt x="1110971" y="170466"/>
                    <a:pt x="1101462" y="170466"/>
                  </a:cubicBezTo>
                  <a:lnTo>
                    <a:pt x="35857" y="170466"/>
                  </a:lnTo>
                  <a:cubicBezTo>
                    <a:pt x="26347" y="170466"/>
                    <a:pt x="17227" y="166688"/>
                    <a:pt x="10502" y="159964"/>
                  </a:cubicBezTo>
                  <a:cubicBezTo>
                    <a:pt x="3778" y="153239"/>
                    <a:pt x="0" y="144119"/>
                    <a:pt x="0" y="134609"/>
                  </a:cubicBezTo>
                  <a:lnTo>
                    <a:pt x="0" y="35857"/>
                  </a:lnTo>
                  <a:cubicBezTo>
                    <a:pt x="0" y="26347"/>
                    <a:pt x="3778" y="17227"/>
                    <a:pt x="10502" y="10502"/>
                  </a:cubicBezTo>
                  <a:cubicBezTo>
                    <a:pt x="17227" y="3778"/>
                    <a:pt x="26347" y="0"/>
                    <a:pt x="35857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26"/>
            <p:cNvSpPr txBox="1"/>
            <p:nvPr/>
          </p:nvSpPr>
          <p:spPr>
            <a:xfrm>
              <a:off x="0" y="0"/>
              <a:ext cx="1137318" cy="1704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200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i="0" u="none" strike="noStrike" cap="none"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</a:rPr>
                <a:t>Colors</a:t>
              </a:r>
              <a:endParaRPr/>
            </a:p>
          </p:txBody>
        </p:sp>
      </p:grpSp>
      <p:grpSp>
        <p:nvGrpSpPr>
          <p:cNvPr id="364" name="Google Shape;364;p26"/>
          <p:cNvGrpSpPr/>
          <p:nvPr/>
        </p:nvGrpSpPr>
        <p:grpSpPr>
          <a:xfrm>
            <a:off x="1249355" y="8261080"/>
            <a:ext cx="725897" cy="725897"/>
            <a:chOff x="0" y="0"/>
            <a:chExt cx="812800" cy="812800"/>
          </a:xfrm>
        </p:grpSpPr>
        <p:sp>
          <p:nvSpPr>
            <p:cNvPr id="365" name="Google Shape;365;p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26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7" name="Google Shape;367;p26"/>
          <p:cNvGrpSpPr/>
          <p:nvPr/>
        </p:nvGrpSpPr>
        <p:grpSpPr>
          <a:xfrm>
            <a:off x="2064714" y="8261080"/>
            <a:ext cx="725897" cy="725897"/>
            <a:chOff x="0" y="0"/>
            <a:chExt cx="812800" cy="812800"/>
          </a:xfrm>
        </p:grpSpPr>
        <p:sp>
          <p:nvSpPr>
            <p:cNvPr id="368" name="Google Shape;368;p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E2E00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26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0" name="Google Shape;370;p26"/>
          <p:cNvGrpSpPr/>
          <p:nvPr/>
        </p:nvGrpSpPr>
        <p:grpSpPr>
          <a:xfrm>
            <a:off x="2943011" y="8261080"/>
            <a:ext cx="725897" cy="725897"/>
            <a:chOff x="0" y="0"/>
            <a:chExt cx="812800" cy="812800"/>
          </a:xfrm>
        </p:grpSpPr>
        <p:sp>
          <p:nvSpPr>
            <p:cNvPr id="371" name="Google Shape;371;p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6E6E6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26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3" name="Google Shape;373;p26"/>
          <p:cNvGrpSpPr/>
          <p:nvPr/>
        </p:nvGrpSpPr>
        <p:grpSpPr>
          <a:xfrm>
            <a:off x="3819515" y="8261080"/>
            <a:ext cx="725897" cy="725897"/>
            <a:chOff x="0" y="0"/>
            <a:chExt cx="812800" cy="812800"/>
          </a:xfrm>
        </p:grpSpPr>
        <p:sp>
          <p:nvSpPr>
            <p:cNvPr id="374" name="Google Shape;374;p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0A0A0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26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6" name="Google Shape;376;p26"/>
          <p:cNvGrpSpPr/>
          <p:nvPr/>
        </p:nvGrpSpPr>
        <p:grpSpPr>
          <a:xfrm>
            <a:off x="4696916" y="8261080"/>
            <a:ext cx="725897" cy="725897"/>
            <a:chOff x="0" y="0"/>
            <a:chExt cx="812800" cy="812800"/>
          </a:xfrm>
        </p:grpSpPr>
        <p:sp>
          <p:nvSpPr>
            <p:cNvPr id="377" name="Google Shape;377;p2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6"/>
            <p:cNvSpPr txBox="1"/>
            <p:nvPr/>
          </p:nvSpPr>
          <p:spPr>
            <a:xfrm>
              <a:off x="76200" y="85725"/>
              <a:ext cx="660400" cy="6508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79" name="Google Shape;379;p26"/>
          <p:cNvSpPr/>
          <p:nvPr/>
        </p:nvSpPr>
        <p:spPr>
          <a:xfrm>
            <a:off x="11038817" y="4036256"/>
            <a:ext cx="1727997" cy="2279133"/>
          </a:xfrm>
          <a:custGeom>
            <a:avLst/>
            <a:gdLst/>
            <a:ahLst/>
            <a:cxnLst/>
            <a:rect l="l" t="t" r="r" b="b"/>
            <a:pathLst>
              <a:path w="1727997" h="2279133" extrusionOk="0">
                <a:moveTo>
                  <a:pt x="0" y="0"/>
                </a:moveTo>
                <a:lnTo>
                  <a:pt x="1727997" y="0"/>
                </a:lnTo>
                <a:lnTo>
                  <a:pt x="1727997" y="2279132"/>
                </a:lnTo>
                <a:lnTo>
                  <a:pt x="0" y="22791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0" name="Google Shape;380;p26"/>
          <p:cNvSpPr/>
          <p:nvPr/>
        </p:nvSpPr>
        <p:spPr>
          <a:xfrm>
            <a:off x="7812294" y="4036256"/>
            <a:ext cx="2279133" cy="2279133"/>
          </a:xfrm>
          <a:custGeom>
            <a:avLst/>
            <a:gdLst/>
            <a:ahLst/>
            <a:cxnLst/>
            <a:rect l="l" t="t" r="r" b="b"/>
            <a:pathLst>
              <a:path w="2279133" h="2279133" extrusionOk="0">
                <a:moveTo>
                  <a:pt x="0" y="0"/>
                </a:moveTo>
                <a:lnTo>
                  <a:pt x="2279133" y="0"/>
                </a:lnTo>
                <a:lnTo>
                  <a:pt x="2279133" y="2279132"/>
                </a:lnTo>
                <a:lnTo>
                  <a:pt x="0" y="22791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1" name="Google Shape;381;p26"/>
          <p:cNvSpPr/>
          <p:nvPr/>
        </p:nvSpPr>
        <p:spPr>
          <a:xfrm>
            <a:off x="7812294" y="6501776"/>
            <a:ext cx="2279133" cy="2279133"/>
          </a:xfrm>
          <a:custGeom>
            <a:avLst/>
            <a:gdLst/>
            <a:ahLst/>
            <a:cxnLst/>
            <a:rect l="l" t="t" r="r" b="b"/>
            <a:pathLst>
              <a:path w="2279133" h="2279133" extrusionOk="0">
                <a:moveTo>
                  <a:pt x="0" y="0"/>
                </a:moveTo>
                <a:lnTo>
                  <a:pt x="2279133" y="0"/>
                </a:lnTo>
                <a:lnTo>
                  <a:pt x="2279133" y="2279133"/>
                </a:lnTo>
                <a:lnTo>
                  <a:pt x="0" y="227913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2" name="Google Shape;382;p26"/>
          <p:cNvSpPr/>
          <p:nvPr/>
        </p:nvSpPr>
        <p:spPr>
          <a:xfrm>
            <a:off x="10865794" y="6604322"/>
            <a:ext cx="2074041" cy="2074041"/>
          </a:xfrm>
          <a:custGeom>
            <a:avLst/>
            <a:gdLst/>
            <a:ahLst/>
            <a:cxnLst/>
            <a:rect l="l" t="t" r="r" b="b"/>
            <a:pathLst>
              <a:path w="2074041" h="2074041" extrusionOk="0">
                <a:moveTo>
                  <a:pt x="0" y="0"/>
                </a:moveTo>
                <a:lnTo>
                  <a:pt x="2074042" y="0"/>
                </a:lnTo>
                <a:lnTo>
                  <a:pt x="2074042" y="2074041"/>
                </a:lnTo>
                <a:lnTo>
                  <a:pt x="0" y="207404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3" name="Google Shape;383;p26"/>
          <p:cNvSpPr/>
          <p:nvPr/>
        </p:nvSpPr>
        <p:spPr>
          <a:xfrm>
            <a:off x="13476120" y="4036256"/>
            <a:ext cx="2279133" cy="2279133"/>
          </a:xfrm>
          <a:custGeom>
            <a:avLst/>
            <a:gdLst/>
            <a:ahLst/>
            <a:cxnLst/>
            <a:rect l="l" t="t" r="r" b="b"/>
            <a:pathLst>
              <a:path w="2279133" h="2279133" extrusionOk="0">
                <a:moveTo>
                  <a:pt x="0" y="0"/>
                </a:moveTo>
                <a:lnTo>
                  <a:pt x="2279133" y="0"/>
                </a:lnTo>
                <a:lnTo>
                  <a:pt x="2279133" y="2279132"/>
                </a:lnTo>
                <a:lnTo>
                  <a:pt x="0" y="227913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4" name="Google Shape;384;p26"/>
          <p:cNvSpPr/>
          <p:nvPr/>
        </p:nvSpPr>
        <p:spPr>
          <a:xfrm>
            <a:off x="13410376" y="6501776"/>
            <a:ext cx="2410621" cy="2279133"/>
          </a:xfrm>
          <a:custGeom>
            <a:avLst/>
            <a:gdLst/>
            <a:ahLst/>
            <a:cxnLst/>
            <a:rect l="l" t="t" r="r" b="b"/>
            <a:pathLst>
              <a:path w="2410621" h="2279133" extrusionOk="0">
                <a:moveTo>
                  <a:pt x="0" y="0"/>
                </a:moveTo>
                <a:lnTo>
                  <a:pt x="2410621" y="0"/>
                </a:lnTo>
                <a:lnTo>
                  <a:pt x="2410621" y="2279133"/>
                </a:lnTo>
                <a:lnTo>
                  <a:pt x="0" y="227913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5" name="Google Shape;385;p26"/>
          <p:cNvSpPr txBox="1"/>
          <p:nvPr/>
        </p:nvSpPr>
        <p:spPr>
          <a:xfrm>
            <a:off x="1173043" y="3673301"/>
            <a:ext cx="4181285" cy="514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This presentation template</a:t>
            </a:r>
            <a:endParaRPr/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uses the following free fonts:</a:t>
            </a:r>
            <a:endParaRPr/>
          </a:p>
        </p:txBody>
      </p:sp>
      <p:sp>
        <p:nvSpPr>
          <p:cNvPr id="386" name="Google Shape;386;p26"/>
          <p:cNvSpPr txBox="1"/>
          <p:nvPr/>
        </p:nvSpPr>
        <p:spPr>
          <a:xfrm>
            <a:off x="1116102" y="6766079"/>
            <a:ext cx="4368067" cy="2571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You can find these fonts online too.</a:t>
            </a:r>
            <a:endParaRPr/>
          </a:p>
        </p:txBody>
      </p:sp>
      <p:sp>
        <p:nvSpPr>
          <p:cNvPr id="387" name="Google Shape;387;p26"/>
          <p:cNvSpPr txBox="1"/>
          <p:nvPr/>
        </p:nvSpPr>
        <p:spPr>
          <a:xfrm>
            <a:off x="1688417" y="4967635"/>
            <a:ext cx="3150536" cy="4096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2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97" b="1" i="0" u="none" strike="noStrike" cap="none">
                <a:solidFill>
                  <a:srgbClr val="000000"/>
                </a:solidFill>
                <a:latin typeface="Lora"/>
                <a:ea typeface="Lora"/>
                <a:cs typeface="Lora"/>
                <a:sym typeface="Lora"/>
              </a:rPr>
              <a:t>Lora</a:t>
            </a:r>
            <a:endParaRPr/>
          </a:p>
        </p:txBody>
      </p:sp>
      <p:sp>
        <p:nvSpPr>
          <p:cNvPr id="388" name="Google Shape;388;p26"/>
          <p:cNvSpPr txBox="1"/>
          <p:nvPr/>
        </p:nvSpPr>
        <p:spPr>
          <a:xfrm>
            <a:off x="1523971" y="5966002"/>
            <a:ext cx="3479429" cy="314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97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Open Sans Condensed</a:t>
            </a:r>
            <a:endParaRPr/>
          </a:p>
        </p:txBody>
      </p:sp>
      <p:sp>
        <p:nvSpPr>
          <p:cNvPr id="389" name="Google Shape;389;p26"/>
          <p:cNvSpPr txBox="1"/>
          <p:nvPr/>
        </p:nvSpPr>
        <p:spPr>
          <a:xfrm>
            <a:off x="2319155" y="4679560"/>
            <a:ext cx="1889061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97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TITLES:</a:t>
            </a:r>
            <a:endParaRPr/>
          </a:p>
        </p:txBody>
      </p:sp>
      <p:sp>
        <p:nvSpPr>
          <p:cNvPr id="390" name="Google Shape;390;p26"/>
          <p:cNvSpPr txBox="1"/>
          <p:nvPr/>
        </p:nvSpPr>
        <p:spPr>
          <a:xfrm>
            <a:off x="2319155" y="5680252"/>
            <a:ext cx="1889061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97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BODY TEXT:</a:t>
            </a:r>
            <a:endParaRPr/>
          </a:p>
        </p:txBody>
      </p:sp>
      <p:sp>
        <p:nvSpPr>
          <p:cNvPr id="391" name="Google Shape;391;p26"/>
          <p:cNvSpPr txBox="1"/>
          <p:nvPr/>
        </p:nvSpPr>
        <p:spPr>
          <a:xfrm>
            <a:off x="1249355" y="9102184"/>
            <a:ext cx="725897" cy="180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#FFFFFF</a:t>
            </a:r>
            <a:endParaRPr/>
          </a:p>
        </p:txBody>
      </p:sp>
      <p:sp>
        <p:nvSpPr>
          <p:cNvPr id="392" name="Google Shape;392;p26"/>
          <p:cNvSpPr txBox="1"/>
          <p:nvPr/>
        </p:nvSpPr>
        <p:spPr>
          <a:xfrm>
            <a:off x="2064714" y="9102184"/>
            <a:ext cx="725897" cy="180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#FE2E00</a:t>
            </a:r>
            <a:endParaRPr/>
          </a:p>
        </p:txBody>
      </p:sp>
      <p:sp>
        <p:nvSpPr>
          <p:cNvPr id="393" name="Google Shape;393;p26"/>
          <p:cNvSpPr txBox="1"/>
          <p:nvPr/>
        </p:nvSpPr>
        <p:spPr>
          <a:xfrm>
            <a:off x="2943011" y="9102184"/>
            <a:ext cx="725897" cy="180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#E6E6E6</a:t>
            </a:r>
            <a:endParaRPr/>
          </a:p>
        </p:txBody>
      </p:sp>
      <p:sp>
        <p:nvSpPr>
          <p:cNvPr id="394" name="Google Shape;394;p26"/>
          <p:cNvSpPr txBox="1"/>
          <p:nvPr/>
        </p:nvSpPr>
        <p:spPr>
          <a:xfrm>
            <a:off x="3819515" y="9102184"/>
            <a:ext cx="725897" cy="180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#A0A0A0</a:t>
            </a:r>
            <a:endParaRPr/>
          </a:p>
        </p:txBody>
      </p:sp>
      <p:sp>
        <p:nvSpPr>
          <p:cNvPr id="395" name="Google Shape;395;p26"/>
          <p:cNvSpPr txBox="1"/>
          <p:nvPr/>
        </p:nvSpPr>
        <p:spPr>
          <a:xfrm>
            <a:off x="4696916" y="9102184"/>
            <a:ext cx="725897" cy="1809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#000000</a:t>
            </a:r>
            <a:endParaRPr/>
          </a:p>
        </p:txBody>
      </p:sp>
      <p:sp>
        <p:nvSpPr>
          <p:cNvPr id="396" name="Google Shape;396;p26"/>
          <p:cNvSpPr txBox="1"/>
          <p:nvPr/>
        </p:nvSpPr>
        <p:spPr>
          <a:xfrm>
            <a:off x="3800933" y="1719479"/>
            <a:ext cx="10686133" cy="314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Use these in your presentation. Delete or hide this page before presenting. </a:t>
            </a:r>
            <a:endParaRPr/>
          </a:p>
        </p:txBody>
      </p:sp>
      <p:sp>
        <p:nvSpPr>
          <p:cNvPr id="397" name="Google Shape;397;p26"/>
          <p:cNvSpPr txBox="1"/>
          <p:nvPr/>
        </p:nvSpPr>
        <p:spPr>
          <a:xfrm>
            <a:off x="5469973" y="586141"/>
            <a:ext cx="7348055" cy="971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>
                <a:solidFill>
                  <a:srgbClr val="FFFFFF"/>
                </a:solidFill>
                <a:latin typeface="Lora"/>
                <a:ea typeface="Lora"/>
                <a:cs typeface="Lora"/>
                <a:sym typeface="Lora"/>
              </a:rPr>
              <a:t>RESOURCE PAGE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0000"/>
            </a:gs>
            <a:gs pos="100000">
              <a:srgbClr val="2E2E2E"/>
            </a:gs>
          </a:gsLst>
          <a:lin ang="0" scaled="0"/>
        </a:gra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2" name="Google Shape;402;p27"/>
          <p:cNvGrpSpPr/>
          <p:nvPr/>
        </p:nvGrpSpPr>
        <p:grpSpPr>
          <a:xfrm>
            <a:off x="714865" y="593699"/>
            <a:ext cx="16858270" cy="9099602"/>
            <a:chOff x="0" y="0"/>
            <a:chExt cx="4440038" cy="2396603"/>
          </a:xfrm>
        </p:grpSpPr>
        <p:sp>
          <p:nvSpPr>
            <p:cNvPr id="403" name="Google Shape;403;p27"/>
            <p:cNvSpPr/>
            <p:nvPr/>
          </p:nvSpPr>
          <p:spPr>
            <a:xfrm>
              <a:off x="0" y="0"/>
              <a:ext cx="4440038" cy="2396603"/>
            </a:xfrm>
            <a:custGeom>
              <a:avLst/>
              <a:gdLst/>
              <a:ahLst/>
              <a:cxnLst/>
              <a:rect l="l" t="t" r="r" b="b"/>
              <a:pathLst>
                <a:path w="4440038" h="2396603" extrusionOk="0">
                  <a:moveTo>
                    <a:pt x="9185" y="0"/>
                  </a:moveTo>
                  <a:lnTo>
                    <a:pt x="4430854" y="0"/>
                  </a:lnTo>
                  <a:cubicBezTo>
                    <a:pt x="4435926" y="0"/>
                    <a:pt x="4440038" y="4112"/>
                    <a:pt x="4440038" y="9185"/>
                  </a:cubicBezTo>
                  <a:lnTo>
                    <a:pt x="4440038" y="2387418"/>
                  </a:lnTo>
                  <a:cubicBezTo>
                    <a:pt x="4440038" y="2389854"/>
                    <a:pt x="4439071" y="2392190"/>
                    <a:pt x="4437348" y="2393913"/>
                  </a:cubicBezTo>
                  <a:cubicBezTo>
                    <a:pt x="4435626" y="2395635"/>
                    <a:pt x="4433289" y="2396603"/>
                    <a:pt x="4430854" y="2396603"/>
                  </a:cubicBezTo>
                  <a:lnTo>
                    <a:pt x="9185" y="2396603"/>
                  </a:lnTo>
                  <a:cubicBezTo>
                    <a:pt x="6749" y="2396603"/>
                    <a:pt x="4413" y="2395635"/>
                    <a:pt x="2690" y="2393913"/>
                  </a:cubicBezTo>
                  <a:cubicBezTo>
                    <a:pt x="968" y="2392190"/>
                    <a:pt x="0" y="2389854"/>
                    <a:pt x="0" y="2387418"/>
                  </a:cubicBezTo>
                  <a:lnTo>
                    <a:pt x="0" y="9185"/>
                  </a:lnTo>
                  <a:cubicBezTo>
                    <a:pt x="0" y="6749"/>
                    <a:pt x="968" y="4413"/>
                    <a:pt x="2690" y="2690"/>
                  </a:cubicBezTo>
                  <a:cubicBezTo>
                    <a:pt x="4413" y="968"/>
                    <a:pt x="6749" y="0"/>
                    <a:pt x="918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27"/>
            <p:cNvSpPr txBox="1"/>
            <p:nvPr/>
          </p:nvSpPr>
          <p:spPr>
            <a:xfrm>
              <a:off x="0" y="9525"/>
              <a:ext cx="4440038" cy="238707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1994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05" name="Google Shape;405;p27"/>
          <p:cNvSpPr txBox="1"/>
          <p:nvPr/>
        </p:nvSpPr>
        <p:spPr>
          <a:xfrm>
            <a:off x="3377480" y="2482841"/>
            <a:ext cx="11533039" cy="314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This presentation template is free for everyone to use, thanks to the following:</a:t>
            </a:r>
            <a:endParaRPr/>
          </a:p>
        </p:txBody>
      </p:sp>
      <p:sp>
        <p:nvSpPr>
          <p:cNvPr id="406" name="Google Shape;406;p27"/>
          <p:cNvSpPr txBox="1"/>
          <p:nvPr/>
        </p:nvSpPr>
        <p:spPr>
          <a:xfrm>
            <a:off x="3377480" y="5260322"/>
            <a:ext cx="11533039" cy="314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for this presentation template</a:t>
            </a:r>
            <a:endParaRPr/>
          </a:p>
        </p:txBody>
      </p:sp>
      <p:sp>
        <p:nvSpPr>
          <p:cNvPr id="407" name="Google Shape;407;p27"/>
          <p:cNvSpPr txBox="1"/>
          <p:nvPr/>
        </p:nvSpPr>
        <p:spPr>
          <a:xfrm>
            <a:off x="3377480" y="7317689"/>
            <a:ext cx="11533039" cy="314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for the photos, graphics, and elements</a:t>
            </a:r>
            <a:endParaRPr/>
          </a:p>
        </p:txBody>
      </p:sp>
      <p:sp>
        <p:nvSpPr>
          <p:cNvPr id="408" name="Google Shape;408;p27"/>
          <p:cNvSpPr txBox="1"/>
          <p:nvPr/>
        </p:nvSpPr>
        <p:spPr>
          <a:xfrm>
            <a:off x="7108732" y="8489231"/>
            <a:ext cx="4070535" cy="48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1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FE2E00"/>
                </a:solidFill>
                <a:latin typeface="Open Sans"/>
                <a:ea typeface="Open Sans"/>
                <a:cs typeface="Open Sans"/>
                <a:sym typeface="Open Sans"/>
              </a:rPr>
              <a:t>Happy designing!</a:t>
            </a:r>
            <a:endParaRPr/>
          </a:p>
        </p:txBody>
      </p:sp>
      <p:sp>
        <p:nvSpPr>
          <p:cNvPr id="409" name="Google Shape;409;p27"/>
          <p:cNvSpPr txBox="1"/>
          <p:nvPr/>
        </p:nvSpPr>
        <p:spPr>
          <a:xfrm>
            <a:off x="5469973" y="1310630"/>
            <a:ext cx="7348055" cy="9715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399" b="0" i="0" u="none" strike="noStrike" cap="none">
                <a:solidFill>
                  <a:srgbClr val="FE2E00"/>
                </a:solidFill>
                <a:latin typeface="Lora"/>
                <a:ea typeface="Lora"/>
                <a:cs typeface="Lora"/>
                <a:sym typeface="Lora"/>
              </a:rPr>
              <a:t>CREDITS</a:t>
            </a:r>
            <a:endParaRPr/>
          </a:p>
        </p:txBody>
      </p:sp>
      <p:sp>
        <p:nvSpPr>
          <p:cNvPr id="410" name="Google Shape;410;p27"/>
          <p:cNvSpPr txBox="1"/>
          <p:nvPr/>
        </p:nvSpPr>
        <p:spPr>
          <a:xfrm>
            <a:off x="5004582" y="6431864"/>
            <a:ext cx="8278835" cy="685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E2E00"/>
                </a:solidFill>
                <a:latin typeface="Open Sans"/>
                <a:ea typeface="Open Sans"/>
                <a:cs typeface="Open Sans"/>
                <a:sym typeface="Open Sans"/>
              </a:rPr>
              <a:t>Pexels, Pixabay, Sketchify</a:t>
            </a:r>
            <a:endParaRPr/>
          </a:p>
        </p:txBody>
      </p:sp>
      <p:pic>
        <p:nvPicPr>
          <p:cNvPr id="411" name="Google Shape;411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45123" y="3527648"/>
            <a:ext cx="4797880" cy="119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651</Words>
  <Application>Microsoft Macintosh PowerPoint</Application>
  <PresentationFormat>Custom</PresentationFormat>
  <Paragraphs>110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Lora</vt:lpstr>
      <vt:lpstr>Open Sans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Eduard-Andrei PACIOGA (140419)</cp:lastModifiedBy>
  <cp:revision>1</cp:revision>
  <dcterms:modified xsi:type="dcterms:W3CDTF">2026-03-11T18:12:36Z</dcterms:modified>
</cp:coreProperties>
</file>